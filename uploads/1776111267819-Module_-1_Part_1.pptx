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8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7" r:id="rId44"/>
    <p:sldId id="301" r:id="rId45"/>
    <p:sldId id="299" r:id="rId46"/>
    <p:sldId id="300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6" r:id="rId61"/>
    <p:sldId id="317" r:id="rId62"/>
    <p:sldId id="318" r:id="rId63"/>
    <p:sldId id="323" r:id="rId64"/>
    <p:sldId id="319" r:id="rId65"/>
    <p:sldId id="320" r:id="rId66"/>
    <p:sldId id="321" r:id="rId67"/>
    <p:sldId id="322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5" r:id="rId77"/>
    <p:sldId id="332" r:id="rId78"/>
    <p:sldId id="336" r:id="rId79"/>
    <p:sldId id="333" r:id="rId80"/>
    <p:sldId id="334" r:id="rId81"/>
    <p:sldId id="337" r:id="rId82"/>
    <p:sldId id="338" r:id="rId83"/>
    <p:sldId id="339" r:id="rId84"/>
    <p:sldId id="340" r:id="rId85"/>
    <p:sldId id="341" r:id="rId86"/>
    <p:sldId id="342" r:id="rId8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571" autoAdjust="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1E1A91-AA3D-4805-8A8D-C73D4804D3E5}" type="datetimeFigureOut">
              <a:rPr lang="en-AE" smtClean="0"/>
              <a:t>01/02/2026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CDFF62-385F-403C-BB90-4A556C231AF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593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Used for many types of programs</a:t>
            </a:r>
            <a:br>
              <a:rPr lang="en-GB" dirty="0"/>
            </a:br>
            <a:r>
              <a:rPr lang="en-GB" dirty="0"/>
              <a:t>With C, you can write operating systems, games, applications, and programs for small devices like microcontrollers. It is not limited to one specific task.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CDFF62-385F-403C-BB90-4A556C231AF5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57821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GCC (GNU Compiler Collection)</a:t>
            </a:r>
            <a:r>
              <a:rPr lang="en-GB" dirty="0"/>
              <a:t> is a </a:t>
            </a:r>
            <a:r>
              <a:rPr lang="en-GB" b="1" dirty="0"/>
              <a:t>software tool used to convert programs written in C and other languages into machine code</a:t>
            </a:r>
            <a:r>
              <a:rPr lang="en-GB" dirty="0"/>
              <a:t> that a computer can understand.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CDFF62-385F-403C-BB90-4A556C231AF5}" type="slidenum">
              <a:rPr lang="en-AE" smtClean="0"/>
              <a:t>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50597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Unformatted functions</a:t>
            </a:r>
            <a:r>
              <a:rPr lang="en-GB" dirty="0"/>
              <a:t> perform </a:t>
            </a:r>
            <a:r>
              <a:rPr lang="en-GB" b="1" dirty="0"/>
              <a:t>direct input/output</a:t>
            </a:r>
            <a:r>
              <a:rPr lang="en-GB" dirty="0"/>
              <a:t> without format conversion</a:t>
            </a:r>
          </a:p>
          <a:p>
            <a:r>
              <a:rPr lang="en-GB" dirty="0"/>
              <a:t>When a program works internally, data exists in </a:t>
            </a:r>
            <a:r>
              <a:rPr lang="en-GB" b="1" dirty="0"/>
              <a:t>raw binary form</a:t>
            </a:r>
            <a:r>
              <a:rPr lang="en-GB" dirty="0"/>
              <a:t>:</a:t>
            </a:r>
          </a:p>
          <a:p>
            <a:r>
              <a:rPr lang="en-GB" dirty="0"/>
              <a:t>Numbers are stored as bits</a:t>
            </a:r>
          </a:p>
          <a:p>
            <a:r>
              <a:rPr lang="en-GB" dirty="0"/>
              <a:t>Characters are stored as numeric codes</a:t>
            </a:r>
            <a:endParaRPr lang="en-AE" dirty="0"/>
          </a:p>
          <a:p>
            <a:r>
              <a:rPr lang="en-GB" b="1" dirty="0"/>
              <a:t>formatted string</a:t>
            </a:r>
            <a:r>
              <a:rPr lang="en-GB" dirty="0"/>
              <a:t> defines the </a:t>
            </a:r>
            <a:r>
              <a:rPr lang="en-GB" b="1" dirty="0"/>
              <a:t>rules</a:t>
            </a:r>
            <a:r>
              <a:rPr lang="en-GB" dirty="0"/>
              <a:t> that convert internal data into readable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CDFF62-385F-403C-BB90-4A556C231AF5}" type="slidenum">
              <a:rPr lang="en-AE" smtClean="0"/>
              <a:t>33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63550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GB" dirty="0"/>
              <a:t> needs this address to </a:t>
            </a:r>
            <a:r>
              <a:rPr lang="en-GB" b="1" dirty="0"/>
              <a:t>store the input value</a:t>
            </a:r>
            <a:endParaRPr lang="en-GB" dirty="0"/>
          </a:p>
          <a:p>
            <a:r>
              <a:rPr lang="en-GB" dirty="0"/>
              <a:t>Without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GB" dirty="0"/>
              <a:t>,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GB" dirty="0"/>
              <a:t> would not know </a:t>
            </a:r>
            <a:r>
              <a:rPr lang="en-GB" b="1" dirty="0"/>
              <a:t>where</a:t>
            </a:r>
            <a:r>
              <a:rPr lang="en-GB" dirty="0"/>
              <a:t> to place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CDFF62-385F-403C-BB90-4A556C231AF5}" type="slidenum">
              <a:rPr lang="en-AE" smtClean="0"/>
              <a:t>38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23248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CDFF62-385F-403C-BB90-4A556C231AF5}" type="slidenum">
              <a:rPr lang="en-AE" smtClean="0"/>
              <a:t>39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1070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en-GB" b="1" dirty="0"/>
              <a:t> </a:t>
            </a:r>
            <a:r>
              <a:rPr lang="en-GB" dirty="0"/>
              <a:t>instructs the preprocessor to </a:t>
            </a:r>
            <a:r>
              <a:rPr lang="en-GB" b="1" dirty="0"/>
              <a:t>insert the contents</a:t>
            </a:r>
            <a:r>
              <a:rPr lang="en-GB" dirty="0"/>
              <a:t> of the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en-GB" dirty="0"/>
              <a:t> header file</a:t>
            </a:r>
          </a:p>
          <a:p>
            <a:r>
              <a:rPr lang="en-GB" dirty="0"/>
              <a:t>This enables access to library functions like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GB" dirty="0"/>
              <a:t> and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endParaRPr lang="en-GB" dirty="0"/>
          </a:p>
          <a:p>
            <a:r>
              <a:rPr lang="en-GB" dirty="0"/>
              <a:t>Without this directive, the compiler cannot recognize these function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CDFF62-385F-403C-BB90-4A556C231AF5}" type="slidenum">
              <a:rPr lang="en-AE" smtClean="0"/>
              <a:t>79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80161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2CD4-135B-42B9-A50E-71E39F7E44E8}" type="datetime1">
              <a:rPr lang="en-AE" smtClean="0"/>
              <a:t>01/02/2026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B6E74EE0-3163-42B5-81F1-819033D53CB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3330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0EC8-8A33-4B66-80E0-C630EC05F9AE}" type="datetime1">
              <a:rPr lang="en-AE" smtClean="0"/>
              <a:t>01/02/2026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0380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D450F-C589-4F22-BFA7-07F5984966C9}" type="datetime1">
              <a:rPr lang="en-AE" smtClean="0"/>
              <a:t>01/02/2026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27446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FFAC4-536F-4F44-B159-C5FFF2CAE498}" type="datetime1">
              <a:rPr lang="en-AE" smtClean="0"/>
              <a:t>01/02/2026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2315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F8321-1F1B-4F10-B929-1B1CA485A895}" type="datetime1">
              <a:rPr lang="en-AE" smtClean="0"/>
              <a:t>01/02/2026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5339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5C991-C852-402B-AB58-905663392FB7}" type="datetime1">
              <a:rPr lang="en-AE" smtClean="0"/>
              <a:t>01/02/2026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19215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4781-8C45-4486-AAB8-582D8BC46205}" type="datetime1">
              <a:rPr lang="en-AE" smtClean="0"/>
              <a:t>01/02/2026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2485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276B-C1F6-44AE-BCC6-FF646FB5A8F1}" type="datetime1">
              <a:rPr lang="en-AE" smtClean="0"/>
              <a:t>01/02/2026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42374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A9A0889-FF9F-43C1-AA5D-15F4F8CEB5D5}" type="datetime1">
              <a:rPr lang="en-AE" smtClean="0"/>
              <a:t>01/02/2026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24964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3357-CEA5-4432-AB61-62D89823DEB3}" type="datetime1">
              <a:rPr lang="en-AE" smtClean="0"/>
              <a:t>01/02/2026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5460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D011-A8A4-426B-972A-C6DC251B1A12}" type="datetime1">
              <a:rPr lang="en-AE" smtClean="0"/>
              <a:t>01/02/2026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9172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8822F-B3B4-4934-BF7E-5F6DF6615DFE}" type="datetime1">
              <a:rPr lang="en-AE" smtClean="0"/>
              <a:t>01/02/2026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6E74EE0-3163-42B5-81F1-819033D53CB5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8579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149B-F672-EE65-9CAD-FC150D660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3" y="738130"/>
            <a:ext cx="9327539" cy="4803354"/>
          </a:xfrm>
        </p:spPr>
        <p:txBody>
          <a:bodyPr>
            <a:normAutofit/>
          </a:bodyPr>
          <a:lstStyle/>
          <a:p>
            <a:r>
              <a:rPr lang="en-GB" dirty="0"/>
              <a:t>COMPUTER PROGRAMMING IN C </a:t>
            </a:r>
            <a:br>
              <a:rPr lang="en-GB" dirty="0"/>
            </a:br>
            <a:r>
              <a:rPr lang="en-GB" dirty="0"/>
              <a:t>&amp;</a:t>
            </a:r>
            <a:br>
              <a:rPr lang="en-GB" dirty="0"/>
            </a:br>
            <a:r>
              <a:rPr lang="en-GB" dirty="0"/>
              <a:t>SHELL SCRIPTING </a:t>
            </a:r>
            <a:br>
              <a:rPr lang="en-GB" dirty="0"/>
            </a:br>
            <a:r>
              <a:rPr lang="en-GB" dirty="0"/>
              <a:t>(24ESC126)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4ADDC6-F191-8F2C-47DD-11444CB7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9788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6731C0-820B-D8C2-1BC9-B1FDB4EF5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A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3A24C1-4CB2-5C51-23BE-7B27C943C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 is a general-purpose computer programming language.</a:t>
            </a:r>
          </a:p>
          <a:p>
            <a:r>
              <a:rPr lang="en-GB" dirty="0"/>
              <a:t>C is also said to be structures programming language or function oriented programming language.</a:t>
            </a:r>
          </a:p>
          <a:p>
            <a:r>
              <a:rPr lang="en-GB" dirty="0"/>
              <a:t>C is a High level programming language.</a:t>
            </a:r>
          </a:p>
          <a:p>
            <a:r>
              <a:rPr lang="en-GB" dirty="0"/>
              <a:t>C Language was developed by Dennis Ritchie in the year of 1972.</a:t>
            </a:r>
          </a:p>
          <a:p>
            <a:endParaRPr lang="en-GB" dirty="0"/>
          </a:p>
          <a:p>
            <a:endParaRPr lang="en-GB" dirty="0"/>
          </a:p>
          <a:p>
            <a:endParaRPr lang="en-AE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31A77E-CC1A-B576-A252-96DB64DC5DEB}"/>
              </a:ext>
            </a:extLst>
          </p:cNvPr>
          <p:cNvSpPr/>
          <p:nvPr/>
        </p:nvSpPr>
        <p:spPr>
          <a:xfrm>
            <a:off x="9925540" y="3187581"/>
            <a:ext cx="1985962" cy="1985962"/>
          </a:xfrm>
          <a:prstGeom prst="ellipse">
            <a:avLst/>
          </a:prstGeom>
          <a:blipFill>
            <a:blip r:embed="rId3" cstate="print"/>
            <a:srcRect/>
            <a:stretch>
              <a:fillRect l="-19000" r="-1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057E1A-681F-CA2E-D1FA-7A76BE3F5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7189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BF70C-DCA2-84F0-EABC-503D9DA3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Module 1</a:t>
            </a:r>
            <a:endParaRPr lang="en-A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933FE-3A76-AF68-DF97-6DC148B13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323" y="798974"/>
            <a:ext cx="6848651" cy="465882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Basic structure of C program: Character set, Tokens, Identifiers in C, Variables . </a:t>
            </a:r>
          </a:p>
          <a:p>
            <a:pPr marL="0" indent="0">
              <a:buNone/>
            </a:pPr>
            <a:r>
              <a:rPr lang="en-GB" dirty="0"/>
              <a:t>Data Types , Constants, </a:t>
            </a:r>
          </a:p>
          <a:p>
            <a:pPr marL="0" indent="0">
              <a:buNone/>
            </a:pPr>
            <a:r>
              <a:rPr lang="en-GB" dirty="0"/>
              <a:t>Preprocessor Directives - Formatted and Unformatted statements I/O statements </a:t>
            </a:r>
          </a:p>
          <a:p>
            <a:pPr marL="0" indent="0">
              <a:buNone/>
            </a:pPr>
            <a:r>
              <a:rPr lang="en-GB" dirty="0"/>
              <a:t>Operators and Expressions - Arithmetic Operators, Relational and Logical Operators, Conditional operator, </a:t>
            </a:r>
            <a:r>
              <a:rPr lang="en-GB" dirty="0" err="1"/>
              <a:t>sizeof</a:t>
            </a:r>
            <a:r>
              <a:rPr lang="en-GB" dirty="0"/>
              <a:t> operator , Assignment operator and Bitwise Operators, Expressions. Operators-Precedence and Associativity .</a:t>
            </a:r>
          </a:p>
          <a:p>
            <a:pPr marL="0" indent="0">
              <a:buNone/>
            </a:pPr>
            <a:r>
              <a:rPr lang="en-GB" dirty="0"/>
              <a:t>Control Flow Statements - if Statement, switch </a:t>
            </a:r>
            <a:r>
              <a:rPr lang="en-GB" dirty="0" err="1"/>
              <a:t>statement,while</a:t>
            </a:r>
            <a:r>
              <a:rPr lang="en-GB" dirty="0"/>
              <a:t> loop, do while loop, for Loop, nested loops , break and continue statements</a:t>
            </a:r>
            <a:endParaRPr lang="en-A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30D605-4BE5-1B71-1AF6-3829F1931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4D3A28-81E7-E0CB-F00A-C06F5728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35231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1D3CC6-408F-17A6-D59A-8D7FD47B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First C Program</a:t>
            </a:r>
            <a:endParaRPr lang="en-A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22FDA-6ABB-1C4D-2505-4572F3DC6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/* my first program in C */</a:t>
            </a:r>
          </a:p>
          <a:p>
            <a:pPr>
              <a:buNone/>
            </a:pPr>
            <a:r>
              <a:rPr lang="en-IN" b="1" dirty="0"/>
              <a:t>#include&lt;stdio.h&gt;</a:t>
            </a:r>
          </a:p>
          <a:p>
            <a:pPr>
              <a:buNone/>
            </a:pPr>
            <a:r>
              <a:rPr lang="en-IN" dirty="0"/>
              <a:t>int main( )</a:t>
            </a:r>
          </a:p>
          <a:p>
            <a:pPr>
              <a:buNone/>
            </a:pPr>
            <a:r>
              <a:rPr lang="en-IN" dirty="0"/>
              <a:t>{</a:t>
            </a:r>
          </a:p>
          <a:p>
            <a:pPr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(“Hello World!”);      // print</a:t>
            </a:r>
          </a:p>
          <a:p>
            <a:pPr>
              <a:buNone/>
            </a:pPr>
            <a:r>
              <a:rPr lang="en-IN" dirty="0"/>
              <a:t>	return 0;</a:t>
            </a:r>
          </a:p>
          <a:p>
            <a:pPr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A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287A5E-14D0-6B56-1849-2F9D3B5D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48759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CCE2E-529A-1B9F-2001-E67D59135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78217"/>
            <a:ext cx="9291215" cy="1049235"/>
          </a:xfrm>
        </p:spPr>
        <p:txBody>
          <a:bodyPr/>
          <a:lstStyle/>
          <a:p>
            <a:r>
              <a:rPr lang="en-IN" dirty="0"/>
              <a:t>Compiling and Executing in GCC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389B3-A8FA-4CD3-2818-CDC9E7516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99" y="1064712"/>
            <a:ext cx="11486367" cy="5793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Open a text editor and add the above-mentioned code.</a:t>
            </a:r>
          </a:p>
          <a:p>
            <a:pPr marL="0" indent="0">
              <a:buNone/>
            </a:pPr>
            <a:r>
              <a:rPr lang="en-IN" dirty="0"/>
              <a:t>Save the file as </a:t>
            </a:r>
            <a:r>
              <a:rPr lang="en-IN" i="1" dirty="0" err="1"/>
              <a:t>hello.c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Open a command prompt/terminal and go to the directory where you have saved the file.</a:t>
            </a:r>
          </a:p>
          <a:p>
            <a:pPr marL="0" indent="0">
              <a:buNone/>
            </a:pPr>
            <a:r>
              <a:rPr lang="en-IN" dirty="0"/>
              <a:t>Type </a:t>
            </a:r>
            <a:r>
              <a:rPr lang="en-IN" i="1" dirty="0" err="1"/>
              <a:t>gcc</a:t>
            </a:r>
            <a:r>
              <a:rPr lang="en-IN" i="1" dirty="0"/>
              <a:t> </a:t>
            </a:r>
            <a:r>
              <a:rPr lang="en-IN" i="1" dirty="0" err="1"/>
              <a:t>hello.c</a:t>
            </a:r>
            <a:r>
              <a:rPr lang="en-IN" dirty="0"/>
              <a:t> and press enter to compile your code. If there are no errors in your code, the command prompt will take you to the next line and would generate </a:t>
            </a:r>
            <a:r>
              <a:rPr lang="en-IN" i="1" dirty="0" err="1"/>
              <a:t>a.out</a:t>
            </a:r>
            <a:r>
              <a:rPr lang="en-IN" dirty="0"/>
              <a:t> executable file.</a:t>
            </a:r>
          </a:p>
          <a:p>
            <a:pPr marL="0" indent="0">
              <a:buNone/>
            </a:pPr>
            <a:r>
              <a:rPr lang="en-IN" dirty="0"/>
              <a:t>Now, type ./</a:t>
            </a:r>
            <a:r>
              <a:rPr lang="en-IN" i="1" dirty="0" err="1"/>
              <a:t>a.out</a:t>
            </a:r>
            <a:r>
              <a:rPr lang="en-IN" dirty="0"/>
              <a:t> to execute your program.</a:t>
            </a:r>
          </a:p>
          <a:p>
            <a:pPr marL="0" indent="0">
              <a:buNone/>
            </a:pPr>
            <a:r>
              <a:rPr lang="en-IN" dirty="0"/>
              <a:t>You will see the output </a:t>
            </a:r>
            <a:r>
              <a:rPr lang="en-IN" i="1" dirty="0"/>
              <a:t>"Hello World"</a:t>
            </a:r>
            <a:r>
              <a:rPr lang="en-IN" dirty="0"/>
              <a:t> printed on the screen.</a:t>
            </a:r>
          </a:p>
          <a:p>
            <a:pPr algn="ctr">
              <a:buNone/>
            </a:pPr>
            <a:r>
              <a:rPr lang="en-IN" dirty="0"/>
              <a:t>$ </a:t>
            </a:r>
            <a:r>
              <a:rPr lang="en-IN" dirty="0" err="1"/>
              <a:t>gcc</a:t>
            </a:r>
            <a:r>
              <a:rPr lang="en-IN" dirty="0"/>
              <a:t> </a:t>
            </a:r>
            <a:r>
              <a:rPr lang="en-IN" dirty="0" err="1"/>
              <a:t>hello.c</a:t>
            </a:r>
            <a:r>
              <a:rPr lang="en-IN" dirty="0"/>
              <a:t> </a:t>
            </a:r>
          </a:p>
          <a:p>
            <a:pPr algn="ctr">
              <a:buNone/>
            </a:pPr>
            <a:r>
              <a:rPr lang="en-IN" dirty="0"/>
              <a:t>$ ./</a:t>
            </a:r>
            <a:r>
              <a:rPr lang="en-IN" dirty="0" err="1"/>
              <a:t>a.out</a:t>
            </a:r>
            <a:r>
              <a:rPr lang="en-IN" dirty="0"/>
              <a:t> </a:t>
            </a:r>
          </a:p>
          <a:p>
            <a:pPr algn="ctr">
              <a:buNone/>
            </a:pPr>
            <a:r>
              <a:rPr lang="en-IN" dirty="0"/>
              <a:t>Hello, World!</a:t>
            </a:r>
          </a:p>
          <a:p>
            <a:pPr marL="0" indent="0">
              <a:buNone/>
            </a:pPr>
            <a:endParaRPr lang="en-IN" dirty="0"/>
          </a:p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F81C8-6367-F2C7-B8F3-23DF35EF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923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CA737-D642-E310-37B5-A7BFE5D07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914" y="644341"/>
            <a:ext cx="3571358" cy="1049235"/>
          </a:xfrm>
        </p:spPr>
        <p:txBody>
          <a:bodyPr/>
          <a:lstStyle/>
          <a:p>
            <a:r>
              <a:rPr lang="en-IN" dirty="0"/>
              <a:t>Structure of C Program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D50B5-CDEA-59BB-7A7F-FB4CF09DF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 dirty="0"/>
          </a:p>
        </p:txBody>
      </p:sp>
      <p:pic>
        <p:nvPicPr>
          <p:cNvPr id="4" name="Picture 2" descr="Image result for structure of a c program">
            <a:extLst>
              <a:ext uri="{FF2B5EF4-FFF2-40B4-BE49-F238E27FC236}">
                <a16:creationId xmlns:a16="http://schemas.microsoft.com/office/drawing/2014/main" id="{A0CE5549-9710-B3E6-F779-59B124983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5671"/>
          <a:stretch>
            <a:fillRect/>
          </a:stretch>
        </p:blipFill>
        <p:spPr bwMode="auto">
          <a:xfrm>
            <a:off x="5135670" y="642240"/>
            <a:ext cx="6726477" cy="5670878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BBABF-58CF-3754-4A0C-E7A32444A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4672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3B9A-FDDC-4FCA-894E-EDA9146B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52A95-FD6F-B823-DFE3-D950987E3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4" name="Picture 2" descr="Image result for structure of c program">
            <a:extLst>
              <a:ext uri="{FF2B5EF4-FFF2-40B4-BE49-F238E27FC236}">
                <a16:creationId xmlns:a16="http://schemas.microsoft.com/office/drawing/2014/main" id="{94B19C3E-323B-2373-1953-211BDD73B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5550" y="157504"/>
            <a:ext cx="7200900" cy="6418659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CE974-26E5-08CB-A792-2447C338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49510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997B-B315-B1E1-0362-3AB2E9BC2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516" y="253374"/>
            <a:ext cx="9291215" cy="1049235"/>
          </a:xfrm>
        </p:spPr>
        <p:txBody>
          <a:bodyPr/>
          <a:lstStyle/>
          <a:p>
            <a:r>
              <a:rPr lang="en-GB" dirty="0"/>
              <a:t>tokens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3363E-70C7-1AAF-179C-E1FECC44B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349" y="1127342"/>
            <a:ext cx="9853446" cy="4339003"/>
          </a:xfrm>
        </p:spPr>
        <p:txBody>
          <a:bodyPr/>
          <a:lstStyle/>
          <a:p>
            <a:r>
              <a:rPr lang="en-GB" dirty="0"/>
              <a:t>Tokens are the smallest building block or smallest unit of a C program.</a:t>
            </a:r>
          </a:p>
          <a:p>
            <a:pPr marL="0" indent="0">
              <a:buNone/>
            </a:pPr>
            <a:endParaRPr lang="en-AE" dirty="0"/>
          </a:p>
        </p:txBody>
      </p:sp>
      <p:pic>
        <p:nvPicPr>
          <p:cNvPr id="4" name="Picture 2" descr="Tokens in C Programming Language | atnyla">
            <a:extLst>
              <a:ext uri="{FF2B5EF4-FFF2-40B4-BE49-F238E27FC236}">
                <a16:creationId xmlns:a16="http://schemas.microsoft.com/office/drawing/2014/main" id="{D9B482FB-5721-D32B-B9BE-62FCEEA05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731" y="2035288"/>
            <a:ext cx="9144000" cy="391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214B6-8D1D-6025-8DAF-88DE06A4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32974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1E8F-227B-734F-7E06-E7ECFF41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 Character Set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2B377-545C-3986-929D-9C0873519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99" y="2015732"/>
            <a:ext cx="3895595" cy="3450613"/>
          </a:xfrm>
        </p:spPr>
        <p:txBody>
          <a:bodyPr/>
          <a:lstStyle/>
          <a:p>
            <a:r>
              <a:rPr lang="en-GB" dirty="0"/>
              <a:t>A character denotes any alphabet, digit or special symbol used to represent information.</a:t>
            </a:r>
          </a:p>
          <a:p>
            <a:pPr marL="0" indent="0">
              <a:buNone/>
            </a:pP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E0843-A7C9-C8AA-9285-AE1608423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861" y="1733000"/>
            <a:ext cx="6751905" cy="442958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D972A-1479-17E0-94EC-44EB14FC3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09196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D4739-3897-CECD-B2E6-0CABFEE2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445164"/>
            <a:ext cx="9291215" cy="1049235"/>
          </a:xfrm>
        </p:spPr>
        <p:txBody>
          <a:bodyPr/>
          <a:lstStyle/>
          <a:p>
            <a:r>
              <a:rPr lang="en-IN" dirty="0"/>
              <a:t>Special Characters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9A288-F977-7CDD-073B-4A926FE82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79D7CA6-864E-6312-0A01-02A1F86209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4332280"/>
              </p:ext>
            </p:extLst>
          </p:nvPr>
        </p:nvGraphicFramePr>
        <p:xfrm>
          <a:off x="2575142" y="1391655"/>
          <a:ext cx="7467600" cy="5120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Symbol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Meaning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 !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Exclamation mark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 #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Hash/ Number sign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 $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Dollar sign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%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Percent sign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 ^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Cap/Caret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 &amp;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Ampersand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*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Asterisk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_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Underscore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+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Plus sign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–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Minus sign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=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Equal to sign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FA81B-50BD-3D1F-6AE8-F89624F3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10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51882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6549-2E28-663D-D675-4639D3F0E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Characters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428F4-E05F-5961-CED0-93B6B2992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501567-EF92-EF67-B007-398B0A3449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3191974"/>
              </p:ext>
            </p:extLst>
          </p:nvPr>
        </p:nvGraphicFramePr>
        <p:xfrm>
          <a:off x="2825663" y="1853754"/>
          <a:ext cx="7467600" cy="4693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Symbol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Meaning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~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 Tilde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|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Vertical bar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 /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Slash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 \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Backslash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(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Left parenthesis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)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Right parenthesis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 {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Left brace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 }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Right brace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[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Left bracket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]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Right bracket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68F00-871A-C062-C09F-6B6801901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11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644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B968-B4FF-28CB-7B7B-93551CB62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Characters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AC23E-3D07-F7A5-44F4-6E6B8278E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43D7B2-9E20-E5C9-E757-D856FB169F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3036268"/>
              </p:ext>
            </p:extLst>
          </p:nvPr>
        </p:nvGraphicFramePr>
        <p:xfrm>
          <a:off x="2825663" y="1853754"/>
          <a:ext cx="7467600" cy="4785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Symbol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Meaning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`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Apostrophe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”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Quotation mark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: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 Colon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;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Semicolon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&lt;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Opening angle bracket/Less</a:t>
                      </a:r>
                      <a:r>
                        <a:rPr lang="en-IN" baseline="0" dirty="0">
                          <a:latin typeface="georgia"/>
                        </a:rPr>
                        <a:t> than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&gt;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Closing angle bracket/Greater than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 ?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Question mark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 ,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 Comma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/>
                        </a:rPr>
                        <a:t>.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/>
                        </a:rPr>
                        <a:t>Period/Dot</a:t>
                      </a:r>
                      <a:endParaRPr lang="en-IN" dirty="0"/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White Spaces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 Or New line Or Space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876A9-EBE7-E953-960F-AA2AE48C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12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96388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A8A3C-C5C3-A6B0-7367-92066C55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Keywords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94540-63C5-A5A6-C81F-C34319941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036" y="1665962"/>
            <a:ext cx="10885117" cy="4387519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IN" sz="2400" dirty="0"/>
              <a:t>Keywords are predefined, reserved words used in programming that have special meanings to the compiler. </a:t>
            </a:r>
          </a:p>
          <a:p>
            <a:pPr fontAlgn="base"/>
            <a:r>
              <a:rPr lang="en-IN" sz="2400" dirty="0"/>
              <a:t>Keywords are part of the syntax and they cannot be used as an identifier. </a:t>
            </a:r>
          </a:p>
          <a:p>
            <a:pPr fontAlgn="base"/>
            <a:r>
              <a:rPr lang="en-IN" sz="2400" dirty="0"/>
              <a:t>For example:</a:t>
            </a:r>
          </a:p>
          <a:p>
            <a:pPr fontAlgn="base">
              <a:buNone/>
            </a:pPr>
            <a:r>
              <a:rPr lang="en-IN" sz="2400" dirty="0"/>
              <a:t>		</a:t>
            </a:r>
            <a:r>
              <a:rPr lang="en-IN" sz="2400" b="1" dirty="0">
                <a:solidFill>
                  <a:srgbClr val="FFFF00"/>
                </a:solidFill>
              </a:rPr>
              <a:t>int</a:t>
            </a:r>
            <a:r>
              <a:rPr lang="en-IN" sz="2400" dirty="0">
                <a:solidFill>
                  <a:srgbClr val="FFFF00"/>
                </a:solidFill>
              </a:rPr>
              <a:t> </a:t>
            </a:r>
            <a:r>
              <a:rPr lang="en-IN" sz="2400" dirty="0"/>
              <a:t>money;</a:t>
            </a:r>
          </a:p>
          <a:p>
            <a:pPr fontAlgn="base">
              <a:buNone/>
            </a:pPr>
            <a:r>
              <a:rPr lang="en-IN" sz="2400" dirty="0"/>
              <a:t>     Here, int is a keyword that indicates money is  a variable of type int (integer).</a:t>
            </a:r>
          </a:p>
          <a:p>
            <a:pPr fontAlgn="base"/>
            <a:r>
              <a:rPr lang="en-IN" sz="2400" dirty="0"/>
              <a:t>As C is a case sensitive language, all keywords must be written in lowercase.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CAD38-83DF-60FD-B93B-C24737CB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13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54088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D5D2-CE11-8078-1B2D-244173422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32 keywords in ANSI C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D2FAF-9802-9BD7-3964-9D9A7DC85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 dirty="0"/>
          </a:p>
        </p:txBody>
      </p:sp>
      <p:pic>
        <p:nvPicPr>
          <p:cNvPr id="4" name="Picture 2" descr="C Keywords | Top 24 Awesome Keywords in C You Need To Know">
            <a:extLst>
              <a:ext uri="{FF2B5EF4-FFF2-40B4-BE49-F238E27FC236}">
                <a16:creationId xmlns:a16="http://schemas.microsoft.com/office/drawing/2014/main" id="{168F1E35-1058-10DE-FBE9-B73EDCCC3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188" y="1853754"/>
            <a:ext cx="7749624" cy="3935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EE601-7269-AE1F-DFFE-0D24EF713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14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0792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99A4-50C5-F4D9-9825-FE2A9C6E9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793" y="279900"/>
            <a:ext cx="9291215" cy="1049235"/>
          </a:xfrm>
        </p:spPr>
        <p:txBody>
          <a:bodyPr/>
          <a:lstStyle/>
          <a:p>
            <a:r>
              <a:rPr lang="en-IN" dirty="0"/>
              <a:t>Identifiers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ED0-E14C-94E0-39E4-414702F51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511" y="1077238"/>
            <a:ext cx="11148164" cy="5348613"/>
          </a:xfrm>
        </p:spPr>
        <p:txBody>
          <a:bodyPr>
            <a:normAutofit/>
          </a:bodyPr>
          <a:lstStyle/>
          <a:p>
            <a:r>
              <a:rPr lang="en-GB" sz="2400" dirty="0"/>
              <a:t>Names given to various elements</a:t>
            </a:r>
          </a:p>
          <a:p>
            <a:pPr lvl="1"/>
            <a:r>
              <a:rPr lang="en-GB" sz="2000" dirty="0"/>
              <a:t>Variables</a:t>
            </a:r>
          </a:p>
          <a:p>
            <a:pPr lvl="1"/>
            <a:r>
              <a:rPr lang="en-GB" sz="2000" dirty="0"/>
              <a:t>Functions</a:t>
            </a:r>
          </a:p>
          <a:p>
            <a:pPr lvl="1"/>
            <a:r>
              <a:rPr lang="en-GB" sz="2000" dirty="0"/>
              <a:t>Arrays</a:t>
            </a:r>
          </a:p>
          <a:p>
            <a:pPr marL="0" indent="0">
              <a:buNone/>
            </a:pPr>
            <a:r>
              <a:rPr lang="en-GB" sz="2400" dirty="0"/>
              <a:t>Here 3 is stored in a memory location and a name x is given to it.</a:t>
            </a:r>
          </a:p>
          <a:p>
            <a:pPr marL="0" indent="0">
              <a:buNone/>
            </a:pPr>
            <a:r>
              <a:rPr lang="en-GB" sz="2400" dirty="0"/>
              <a:t>Then we are assigning a new value 5 to the same memory location x. </a:t>
            </a:r>
          </a:p>
          <a:p>
            <a:pPr marL="0" indent="0">
              <a:buNone/>
            </a:pPr>
            <a:r>
              <a:rPr lang="en-GB" sz="2400" dirty="0"/>
              <a:t>This would overwrite the earlier value 3, since a memory location can hold only one value at a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0A5DD9-2140-1B2F-A348-7147D153C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053" y="4520114"/>
            <a:ext cx="4751052" cy="20579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0F71C-CC98-69FE-F64C-CE93A87E0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15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91858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62A1E-2409-427C-9B64-F622BE8BD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178217"/>
            <a:ext cx="9291215" cy="1049235"/>
          </a:xfrm>
        </p:spPr>
        <p:txBody>
          <a:bodyPr/>
          <a:lstStyle/>
          <a:p>
            <a:r>
              <a:rPr lang="en-IN" dirty="0"/>
              <a:t>Rules for naming: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B57A-6A24-1F23-92BE-88F6F8CF7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53" y="1064712"/>
            <a:ext cx="11073009" cy="4988769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Can only have alphanumeric characters(a-z, A-Z , 0-9) and underscore(_).</a:t>
            </a:r>
          </a:p>
          <a:p>
            <a:pPr algn="just"/>
            <a:r>
              <a:rPr lang="en-IN" sz="2400" dirty="0"/>
              <a:t>No special characters, such as semicolon, period, whitespaces, slash or comma are permitted to be used in or as Identifier.</a:t>
            </a:r>
          </a:p>
          <a:p>
            <a:pPr algn="just"/>
            <a:r>
              <a:rPr lang="en-IN" sz="2400" dirty="0"/>
              <a:t>The first character of an identifier can only contain alphabet(a-z , A-Z) or underscore (_).</a:t>
            </a:r>
          </a:p>
          <a:p>
            <a:pPr algn="just"/>
            <a:r>
              <a:rPr lang="en-IN" sz="2400" dirty="0"/>
              <a:t>case sensitive in C. Eg: name and Name are two different identifiers in C.</a:t>
            </a:r>
          </a:p>
          <a:p>
            <a:pPr algn="just"/>
            <a:r>
              <a:rPr lang="en-IN" sz="2400" dirty="0"/>
              <a:t>Keywords are not allowed to be used as Identifiers.</a:t>
            </a:r>
          </a:p>
          <a:p>
            <a:pPr algn="just"/>
            <a:r>
              <a:rPr lang="en-IN" sz="2400" dirty="0"/>
              <a:t>There is no rule on how long an identifier can be. However, you may run into problems in some compilers if the identifier is longer than 31 characters.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00511-50F8-7421-2209-A6E7FB297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16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75258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C1D7E-D303-8CC9-D8A8-90B8D791D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342420"/>
            <a:ext cx="9291215" cy="1049235"/>
          </a:xfrm>
        </p:spPr>
        <p:txBody>
          <a:bodyPr/>
          <a:lstStyle/>
          <a:p>
            <a:r>
              <a:rPr lang="en-IN" dirty="0"/>
              <a:t>Data Types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892C-61BE-751A-9DE8-798A1DB5B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203" y="1691014"/>
            <a:ext cx="5398718" cy="3775332"/>
          </a:xfrm>
        </p:spPr>
        <p:txBody>
          <a:bodyPr/>
          <a:lstStyle/>
          <a:p>
            <a:r>
              <a:rPr lang="en-IN" dirty="0"/>
              <a:t>Collection of data with values having fixed meaning as well as characteristics.</a:t>
            </a:r>
          </a:p>
          <a:p>
            <a:r>
              <a:rPr lang="en-GB" dirty="0"/>
              <a:t>A </a:t>
            </a:r>
            <a:r>
              <a:rPr lang="en-GB" b="1" dirty="0"/>
              <a:t>datatype</a:t>
            </a:r>
            <a:r>
              <a:rPr lang="en-GB" dirty="0"/>
              <a:t> is a specification that defines the </a:t>
            </a:r>
            <a:r>
              <a:rPr lang="en-GB" b="1" dirty="0"/>
              <a:t>type of data a variable can store</a:t>
            </a:r>
            <a:r>
              <a:rPr lang="en-GB" dirty="0"/>
              <a:t>, the </a:t>
            </a:r>
            <a:r>
              <a:rPr lang="en-GB" b="1" dirty="0"/>
              <a:t>amount of memory allocated</a:t>
            </a:r>
            <a:r>
              <a:rPr lang="en-GB" dirty="0"/>
              <a:t>, the </a:t>
            </a:r>
            <a:r>
              <a:rPr lang="en-GB" b="1" dirty="0"/>
              <a:t>range of values permitted</a:t>
            </a:r>
            <a:r>
              <a:rPr lang="en-GB" dirty="0"/>
              <a:t>, and the </a:t>
            </a:r>
            <a:r>
              <a:rPr lang="en-GB" b="1" dirty="0"/>
              <a:t>operations that can be performed on that data</a:t>
            </a:r>
            <a:r>
              <a:rPr lang="en-GB" dirty="0"/>
              <a:t>.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7D4A7D-4BB4-39F1-20FE-807458DAB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912" y="1330217"/>
            <a:ext cx="5874052" cy="41975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27180-FBEA-FBF6-C092-85CDB49A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17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30943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1168-C7C1-B6D6-6E99-69D1A46C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F6151-5D44-0337-459B-F5D5A85C1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4" name="Picture 2" descr="Image result for data types in c">
            <a:extLst>
              <a:ext uri="{FF2B5EF4-FFF2-40B4-BE49-F238E27FC236}">
                <a16:creationId xmlns:a16="http://schemas.microsoft.com/office/drawing/2014/main" id="{30B635DA-C3AF-845F-CE05-B72BF41CB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9476"/>
          <a:stretch>
            <a:fillRect/>
          </a:stretch>
        </p:blipFill>
        <p:spPr bwMode="auto">
          <a:xfrm>
            <a:off x="1449206" y="804519"/>
            <a:ext cx="10294917" cy="4907349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1845E-9F70-C46A-7C28-24165379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18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05188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0623-6FE0-FE83-0182-4688822CC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DDFDD-CE89-67B8-1F7E-986291758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4" name="Picture 2" descr="C:\Users\ACER\Downloads\New Doc 2020-01-23 14.36.57.jpg">
            <a:extLst>
              <a:ext uri="{FF2B5EF4-FFF2-40B4-BE49-F238E27FC236}">
                <a16:creationId xmlns:a16="http://schemas.microsoft.com/office/drawing/2014/main" id="{5713CFAF-C3B7-7B2E-4372-3999614AA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47795" y="99047"/>
            <a:ext cx="8077200" cy="6659906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A930F-68FE-FB17-2FB2-C18BA948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19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45625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9BE6D-199E-1CC3-BFD7-95586C5DB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121D2-31E7-57DA-CE7B-BE610001D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E4251515-717F-27C9-26AD-B2CEB4317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1345" y="224927"/>
            <a:ext cx="9375353" cy="6517395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59CDA-EE22-3BC8-96BF-AB81047A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20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33149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8AD21-0C14-68D3-DF40-3BC17898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8460E-F5A2-0B87-78F6-CAC2BA70F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048B744A-B17C-28D3-D621-03FA42CCD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5024" y="0"/>
            <a:ext cx="6934200" cy="6795516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05D2FB-1013-D6A9-71A8-38E137D96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21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30238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CF7A-9148-4BCA-6296-FBCFCF73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EDE3-6F8D-8072-30D7-78333F6A7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4" name="Picture 2" descr="https://d33v4339jhl8k0.cloudfront.net/docs/assets/5b2119982c7d3a0fa9a2ef87/images/5ddc030004286364bc9229ac/file-Zoc73tWCDc.jpg">
            <a:extLst>
              <a:ext uri="{FF2B5EF4-FFF2-40B4-BE49-F238E27FC236}">
                <a16:creationId xmlns:a16="http://schemas.microsoft.com/office/drawing/2014/main" id="{FF51EF8A-042C-6803-DDDF-F6CC7E3A8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46234" y="67096"/>
            <a:ext cx="5744378" cy="6701774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B31DF-D559-7A2D-7DD8-FAE1E3BC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22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06610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B4BF-5B1D-55B2-2227-3A62B3D2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Constants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5869E-2145-B02F-1EE7-B71051975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E7104-5363-29A6-BCB6-1ECEA3995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232" y="1853754"/>
            <a:ext cx="5734345" cy="429282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85F8E-4980-401E-DDCA-CAC959B8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23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00729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DF0C-15B4-E362-E38C-AFA33A2C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079" y="253316"/>
            <a:ext cx="9291215" cy="1049235"/>
          </a:xfrm>
        </p:spPr>
        <p:txBody>
          <a:bodyPr/>
          <a:lstStyle/>
          <a:p>
            <a:r>
              <a:rPr lang="en-GB" dirty="0"/>
              <a:t>constants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E5D98-9DB1-E776-F64D-C898DB681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302551"/>
            <a:ext cx="10260361" cy="4679607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Integer Constants</a:t>
            </a:r>
          </a:p>
          <a:p>
            <a:pPr lvl="1"/>
            <a:r>
              <a:rPr lang="en-IN" dirty="0"/>
              <a:t>Decimal – 0   1    743      32767      9999</a:t>
            </a:r>
          </a:p>
          <a:p>
            <a:pPr lvl="1"/>
            <a:r>
              <a:rPr lang="en-IN" dirty="0"/>
              <a:t>Octal – 0   01   0743   07777 </a:t>
            </a:r>
          </a:p>
          <a:p>
            <a:pPr lvl="1"/>
            <a:r>
              <a:rPr lang="en-IN" dirty="0"/>
              <a:t>Hexadecimal – 0x    0X1   0X7FFF   0xabcd</a:t>
            </a:r>
          </a:p>
          <a:p>
            <a:r>
              <a:rPr lang="en-IN" dirty="0"/>
              <a:t>Real/Floating point Constants</a:t>
            </a:r>
          </a:p>
          <a:p>
            <a:pPr lvl="1"/>
            <a:r>
              <a:rPr lang="en-IN" dirty="0"/>
              <a:t>0.2    827.602    </a:t>
            </a:r>
          </a:p>
          <a:p>
            <a:pPr lvl="1"/>
            <a:r>
              <a:rPr lang="en-IN" dirty="0"/>
              <a:t>Character Constants- Single character constant enclosed in apostrophes(Single quotations)</a:t>
            </a:r>
          </a:p>
          <a:p>
            <a:pPr lvl="1"/>
            <a:r>
              <a:rPr lang="en-IN" dirty="0"/>
              <a:t>‘A’     ‘x’     ‘?’</a:t>
            </a:r>
          </a:p>
          <a:p>
            <a:r>
              <a:rPr lang="en-IN" dirty="0"/>
              <a:t>String Constants</a:t>
            </a:r>
          </a:p>
          <a:p>
            <a:pPr lvl="1"/>
            <a:r>
              <a:rPr lang="en-IN" dirty="0"/>
              <a:t>Consists of number of consecutive characters (including space) enclosed in double quotation marks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5BD36-EB42-35F7-7ACF-11857B36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24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87048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4599-1EA5-EB33-6E52-8AAE7594A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 Constants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312CD-564C-46F0-0A21-0F1882868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ASCII</a:t>
            </a:r>
          </a:p>
          <a:p>
            <a:pPr lvl="1"/>
            <a:r>
              <a:rPr lang="en-IN" dirty="0"/>
              <a:t>American Standard Code for Information Interchange</a:t>
            </a:r>
          </a:p>
          <a:p>
            <a:pPr lvl="1"/>
            <a:r>
              <a:rPr lang="en-IN" dirty="0"/>
              <a:t>Every character is numerically encoded with its own unique 7-bit combination (128 characters)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15A03-69B4-6D12-DA86-94768F30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25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37953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2AB4-1B77-9527-AB4F-B8C055D8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B2A58-5EF6-7452-CCF1-66779337E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C08F6-E685-80FA-BEF7-005AF1BF8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26</a:t>
            </a:fld>
            <a:endParaRPr lang="en-AE"/>
          </a:p>
        </p:txBody>
      </p:sp>
      <p:pic>
        <p:nvPicPr>
          <p:cNvPr id="5" name="Picture 2" descr="Image result for ascii character set in C">
            <a:extLst>
              <a:ext uri="{FF2B5EF4-FFF2-40B4-BE49-F238E27FC236}">
                <a16:creationId xmlns:a16="http://schemas.microsoft.com/office/drawing/2014/main" id="{6123A878-D47B-9B53-70A8-F8386B345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3108" y="0"/>
            <a:ext cx="8039100" cy="72351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9898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2593F-8A08-0277-84BA-B36395E9D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Escape Sequences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670D4-E227-0469-DFFD-0A1B48D92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Escape Sequence in C is a sequence of characters that doesn’t represent itself when used inside a character or a string literal but has its own specific function.</a:t>
            </a:r>
          </a:p>
          <a:p>
            <a:r>
              <a:rPr lang="en-IN" dirty="0"/>
              <a:t>Begins with a backslash \ and is followed by one or more special characters.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08BF5-5905-4C36-D873-5B549687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27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29789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727BC-9363-29C8-9224-0547F7B6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7985D-8021-B80A-AD9E-ED581F7A3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A5778-84D8-A937-5FD4-863EC45D2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28</a:t>
            </a:fld>
            <a:endParaRPr lang="en-A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DBEBCE-41A5-4FA1-BB6D-53252C040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520" y="561536"/>
            <a:ext cx="7072829" cy="525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02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3712A-4969-FE5A-512C-A7C1CA70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Const</a:t>
            </a:r>
            <a:r>
              <a:rPr lang="en-IN" dirty="0"/>
              <a:t> Keyword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04D33-1D50-84A8-B08D-9460E57DA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const</a:t>
            </a:r>
            <a:r>
              <a:rPr lang="en-IN" dirty="0"/>
              <a:t> qualifier to declare a variable as constant.</a:t>
            </a:r>
          </a:p>
          <a:p>
            <a:r>
              <a:rPr lang="en-IN" dirty="0"/>
              <a:t>We cannot change the value once the variable has been initialized.</a:t>
            </a:r>
          </a:p>
          <a:p>
            <a:pPr marL="0" indent="0">
              <a:buNone/>
            </a:pPr>
            <a:r>
              <a:rPr lang="en-IN" dirty="0" err="1"/>
              <a:t>eg</a:t>
            </a:r>
            <a:r>
              <a:rPr lang="en-IN" dirty="0"/>
              <a:t>:  </a:t>
            </a:r>
            <a:r>
              <a:rPr lang="en-IN" dirty="0" err="1"/>
              <a:t>const</a:t>
            </a:r>
            <a:r>
              <a:rPr lang="en-IN" dirty="0"/>
              <a:t> int </a:t>
            </a:r>
            <a:r>
              <a:rPr lang="en-IN" dirty="0" err="1"/>
              <a:t>i</a:t>
            </a:r>
            <a:r>
              <a:rPr lang="en-IN" dirty="0"/>
              <a:t>=10;</a:t>
            </a:r>
          </a:p>
          <a:p>
            <a:pPr>
              <a:buNone/>
            </a:pPr>
            <a:r>
              <a:rPr lang="en-IN" dirty="0"/>
              <a:t>	    </a:t>
            </a:r>
            <a:r>
              <a:rPr lang="en-IN" dirty="0" err="1"/>
              <a:t>const</a:t>
            </a:r>
            <a:r>
              <a:rPr lang="en-IN" dirty="0"/>
              <a:t> float pi=3.14;</a:t>
            </a:r>
          </a:p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D14B-0D35-629B-8AD7-4C36EFE9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29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56758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5475-2677-EEC2-2341-0B0FB6938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01578-A947-E2D9-F80B-8F285DE07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variable is a data name that may be used to store a data value.</a:t>
            </a:r>
          </a:p>
          <a:p>
            <a:r>
              <a:rPr lang="en-IN" dirty="0"/>
              <a:t>A variable is nothing but a name given to a storage area that our programs can manipulate. </a:t>
            </a:r>
          </a:p>
          <a:p>
            <a:r>
              <a:rPr lang="en-IN" dirty="0"/>
              <a:t>Each variable in C has a specific type,</a:t>
            </a:r>
          </a:p>
          <a:p>
            <a:pPr lvl="1"/>
            <a:r>
              <a:rPr lang="en-IN" dirty="0"/>
              <a:t> which determines the size and layout of the variable's memory;</a:t>
            </a:r>
          </a:p>
          <a:p>
            <a:pPr lvl="1"/>
            <a:r>
              <a:rPr lang="en-IN" dirty="0"/>
              <a:t> the range of values that can be stored within that memory; </a:t>
            </a:r>
          </a:p>
          <a:p>
            <a:pPr lvl="1"/>
            <a:r>
              <a:rPr lang="en-IN" dirty="0"/>
              <a:t>and the set of operations that can be applied to the variable.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7F4B1-52CE-B106-0053-2F51B66B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30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156475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D5C1D-004C-68AE-B39C-C4C7BB2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343" y="190306"/>
            <a:ext cx="9291215" cy="1049235"/>
          </a:xfrm>
        </p:spPr>
        <p:txBody>
          <a:bodyPr/>
          <a:lstStyle/>
          <a:p>
            <a:r>
              <a:rPr lang="en-GB" dirty="0"/>
              <a:t>Variables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67849-458C-3AE3-DD11-3C34FADBF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895" y="1145754"/>
            <a:ext cx="11027884" cy="4907727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Variable Name can be chosen by the programmer in a meaningful way so as to reflect its function in the program. </a:t>
            </a:r>
          </a:p>
          <a:p>
            <a:pPr marL="0" indent="0">
              <a:buNone/>
            </a:pPr>
            <a:r>
              <a:rPr lang="en-IN" dirty="0" err="1"/>
              <a:t>Eg.</a:t>
            </a:r>
            <a:r>
              <a:rPr lang="en-IN" dirty="0"/>
              <a:t> </a:t>
            </a:r>
          </a:p>
          <a:p>
            <a:pPr>
              <a:buNone/>
            </a:pPr>
            <a:r>
              <a:rPr lang="en-IN" dirty="0"/>
              <a:t>	         Average ,height ,Counter_1, </a:t>
            </a:r>
            <a:r>
              <a:rPr lang="en-IN" dirty="0" err="1"/>
              <a:t>class_strength</a:t>
            </a:r>
            <a:endParaRPr lang="en-IN" dirty="0"/>
          </a:p>
          <a:p>
            <a:pPr fontAlgn="base"/>
            <a:r>
              <a:rPr lang="en-IN" dirty="0"/>
              <a:t>A variable name can have only letters (both uppercase and lowercase letters), digits and underscore.</a:t>
            </a:r>
          </a:p>
          <a:p>
            <a:pPr fontAlgn="base"/>
            <a:r>
              <a:rPr lang="en-IN" dirty="0"/>
              <a:t>The first letter of a variable should be either a letter or an underscore.</a:t>
            </a:r>
          </a:p>
          <a:p>
            <a:pPr fontAlgn="base"/>
            <a:r>
              <a:rPr lang="en-IN" dirty="0"/>
              <a:t>Lowercase and Uppercase are significant. </a:t>
            </a:r>
            <a:r>
              <a:rPr lang="en-IN" b="1" dirty="0"/>
              <a:t>Total</a:t>
            </a:r>
            <a:r>
              <a:rPr lang="en-IN" dirty="0"/>
              <a:t> not same as </a:t>
            </a:r>
            <a:r>
              <a:rPr lang="en-IN" b="1" dirty="0"/>
              <a:t>total</a:t>
            </a:r>
            <a:r>
              <a:rPr lang="en-IN" dirty="0"/>
              <a:t>.</a:t>
            </a:r>
            <a:endParaRPr lang="en-IN" b="1" dirty="0"/>
          </a:p>
          <a:p>
            <a:pPr fontAlgn="base"/>
            <a:r>
              <a:rPr lang="en-IN" dirty="0"/>
              <a:t>There is no rule on how long a variable name (identifier) can be. However, you may run into problems in some compilers if the variable name is longer than 31 characters.</a:t>
            </a:r>
          </a:p>
          <a:p>
            <a:pPr fontAlgn="base"/>
            <a:r>
              <a:rPr lang="en-IN" dirty="0"/>
              <a:t>Should not be a keyword</a:t>
            </a:r>
          </a:p>
          <a:p>
            <a:pPr fontAlgn="base"/>
            <a:r>
              <a:rPr lang="en-IN" dirty="0"/>
              <a:t>White Space not allowed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AA418-14F6-FD02-4EEC-74DE2ED3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00941"/>
            <a:ext cx="811019" cy="503578"/>
          </a:xfrm>
        </p:spPr>
        <p:txBody>
          <a:bodyPr/>
          <a:lstStyle/>
          <a:p>
            <a:fld id="{B6E74EE0-3163-42B5-81F1-819033D53CB5}" type="slidenum">
              <a:rPr lang="en-AE" smtClean="0"/>
              <a:t>31</a:t>
            </a:fld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37355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5C30-6FB0-9F8B-D559-ABFBA3CA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079" y="29319"/>
            <a:ext cx="9291215" cy="1049235"/>
          </a:xfrm>
        </p:spPr>
        <p:txBody>
          <a:bodyPr/>
          <a:lstStyle/>
          <a:p>
            <a:r>
              <a:rPr lang="en-IN" dirty="0"/>
              <a:t>Declaration Of Variables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53E9C-9525-3044-C45C-E93EECFCC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282" y="1078554"/>
            <a:ext cx="10829581" cy="497492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Typical </a:t>
            </a:r>
            <a:r>
              <a:rPr lang="en-IN" b="1" dirty="0"/>
              <a:t>syntax</a:t>
            </a:r>
            <a:r>
              <a:rPr lang="en-IN" dirty="0"/>
              <a:t>:</a:t>
            </a:r>
          </a:p>
          <a:p>
            <a:pPr>
              <a:buNone/>
            </a:pPr>
            <a:r>
              <a:rPr lang="en-IN" dirty="0"/>
              <a:t>			</a:t>
            </a:r>
            <a:r>
              <a:rPr lang="en-IN" dirty="0">
                <a:solidFill>
                  <a:srgbClr val="FFFF00"/>
                </a:solidFill>
              </a:rPr>
              <a:t>datatype</a:t>
            </a:r>
            <a:r>
              <a:rPr lang="en-IN" dirty="0"/>
              <a:t>  </a:t>
            </a:r>
            <a:r>
              <a:rPr lang="en-IN" dirty="0" err="1">
                <a:solidFill>
                  <a:srgbClr val="FFC000"/>
                </a:solidFill>
              </a:rPr>
              <a:t>variable_name</a:t>
            </a:r>
            <a:r>
              <a:rPr lang="en-IN" dirty="0">
                <a:solidFill>
                  <a:srgbClr val="FFC000"/>
                </a:solidFill>
              </a:rPr>
              <a:t>; </a:t>
            </a:r>
          </a:p>
          <a:p>
            <a:pPr>
              <a:buNone/>
            </a:pPr>
            <a:r>
              <a:rPr lang="en-IN" dirty="0"/>
              <a:t>for multiple variables: </a:t>
            </a:r>
          </a:p>
          <a:p>
            <a:pPr>
              <a:buNone/>
            </a:pPr>
            <a:r>
              <a:rPr lang="en-IN" dirty="0"/>
              <a:t>		</a:t>
            </a:r>
            <a:r>
              <a:rPr lang="en-IN" dirty="0">
                <a:solidFill>
                  <a:srgbClr val="FFFF00"/>
                </a:solidFill>
              </a:rPr>
              <a:t>datatype</a:t>
            </a:r>
            <a:r>
              <a:rPr lang="en-IN" dirty="0"/>
              <a:t>  </a:t>
            </a:r>
            <a:r>
              <a:rPr lang="en-IN" dirty="0">
                <a:solidFill>
                  <a:srgbClr val="FFC000"/>
                </a:solidFill>
              </a:rPr>
              <a:t>variable1, variable2, variable3;</a:t>
            </a:r>
            <a:r>
              <a:rPr lang="en-IN" dirty="0">
                <a:solidFill>
                  <a:srgbClr val="00B0F0"/>
                </a:solidFill>
              </a:rPr>
              <a:t>        Names of variables separated by commas</a:t>
            </a:r>
          </a:p>
          <a:p>
            <a:pPr>
              <a:buNone/>
            </a:pPr>
            <a:r>
              <a:rPr lang="en-IN" dirty="0" err="1"/>
              <a:t>Eg.</a:t>
            </a:r>
            <a:r>
              <a:rPr lang="en-IN" dirty="0"/>
              <a:t>  </a:t>
            </a:r>
          </a:p>
          <a:p>
            <a:pPr>
              <a:buNone/>
            </a:pPr>
            <a:r>
              <a:rPr lang="en-IN" dirty="0"/>
              <a:t>	int a;</a:t>
            </a:r>
          </a:p>
          <a:p>
            <a:pPr>
              <a:buNone/>
            </a:pPr>
            <a:r>
              <a:rPr lang="en-IN" dirty="0"/>
              <a:t>	char a,name,addr1;</a:t>
            </a:r>
          </a:p>
          <a:p>
            <a:pPr marL="0" indent="0">
              <a:buNone/>
            </a:pPr>
            <a:r>
              <a:rPr lang="en-IN" b="1" dirty="0"/>
              <a:t>Defining and Initializing</a:t>
            </a:r>
          </a:p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		</a:t>
            </a:r>
            <a:r>
              <a:rPr lang="en-IN" dirty="0">
                <a:solidFill>
                  <a:srgbClr val="FFFF00"/>
                </a:solidFill>
              </a:rPr>
              <a:t>datatype</a:t>
            </a:r>
            <a:r>
              <a:rPr lang="en-IN" dirty="0"/>
              <a:t>  </a:t>
            </a:r>
            <a:r>
              <a:rPr lang="en-IN" dirty="0" err="1">
                <a:solidFill>
                  <a:srgbClr val="FFC000"/>
                </a:solidFill>
              </a:rPr>
              <a:t>variable_name</a:t>
            </a:r>
            <a:r>
              <a:rPr lang="en-IN" dirty="0">
                <a:solidFill>
                  <a:srgbClr val="FFC000"/>
                </a:solidFill>
              </a:rPr>
              <a:t>= values;</a:t>
            </a:r>
          </a:p>
          <a:p>
            <a:pPr>
              <a:buNone/>
            </a:pPr>
            <a:r>
              <a:rPr lang="en-IN" dirty="0" err="1"/>
              <a:t>Eg.</a:t>
            </a:r>
            <a:r>
              <a:rPr lang="en-IN" dirty="0"/>
              <a:t>   	</a:t>
            </a:r>
            <a:r>
              <a:rPr lang="en-IN" b="1" dirty="0"/>
              <a:t>int</a:t>
            </a:r>
            <a:r>
              <a:rPr lang="en-IN" dirty="0"/>
              <a:t> a=10 ;	    declaring 2 variable of integer type</a:t>
            </a:r>
          </a:p>
          <a:p>
            <a:pPr>
              <a:buNone/>
            </a:pPr>
            <a:r>
              <a:rPr lang="en-IN" b="1" dirty="0"/>
              <a:t>    	float</a:t>
            </a:r>
            <a:r>
              <a:rPr lang="en-IN" dirty="0"/>
              <a:t> f=20.8;  	     	</a:t>
            </a:r>
            <a:r>
              <a:rPr lang="en-IN" b="1" dirty="0"/>
              <a:t>int </a:t>
            </a:r>
            <a:r>
              <a:rPr lang="en-IN" dirty="0"/>
              <a:t>a=10,b=20;  </a:t>
            </a:r>
          </a:p>
          <a:p>
            <a:pPr>
              <a:buNone/>
            </a:pPr>
            <a:r>
              <a:rPr lang="en-IN" b="1" dirty="0"/>
              <a:t>  		char</a:t>
            </a:r>
            <a:r>
              <a:rPr lang="en-IN" dirty="0"/>
              <a:t> c='A';  		</a:t>
            </a:r>
            <a:r>
              <a:rPr lang="en-IN" b="1" dirty="0"/>
              <a:t>int</a:t>
            </a:r>
            <a:r>
              <a:rPr lang="en-IN" dirty="0"/>
              <a:t> width, height=5; 	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66920-6EE2-38AA-5434-B85413AAC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03" y="50358"/>
            <a:ext cx="811019" cy="503578"/>
          </a:xfrm>
        </p:spPr>
        <p:txBody>
          <a:bodyPr/>
          <a:lstStyle/>
          <a:p>
            <a:fld id="{B6E74EE0-3163-42B5-81F1-819033D53CB5}" type="slidenum">
              <a:rPr lang="en-AE" smtClean="0"/>
              <a:t>32</a:t>
            </a:fld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2758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7593-17EC-A6AD-9C85-85944E9C9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356706"/>
            <a:ext cx="9291215" cy="1049235"/>
          </a:xfrm>
        </p:spPr>
        <p:txBody>
          <a:bodyPr/>
          <a:lstStyle/>
          <a:p>
            <a:r>
              <a:rPr lang="en-IN" dirty="0"/>
              <a:t>Console I/O functions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A5A88-0D18-6B77-459C-4D50EB8E7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/>
              <a:t>#include&lt;stdio.h&gt;</a:t>
            </a:r>
          </a:p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7A0F1-876F-E373-243C-1FDEB2708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33</a:t>
            </a:fld>
            <a:endParaRPr lang="en-AE"/>
          </a:p>
        </p:txBody>
      </p:sp>
      <p:pic>
        <p:nvPicPr>
          <p:cNvPr id="5" name="Picture 2" descr="Image result for console input Output  in C">
            <a:extLst>
              <a:ext uri="{FF2B5EF4-FFF2-40B4-BE49-F238E27FC236}">
                <a16:creationId xmlns:a16="http://schemas.microsoft.com/office/drawing/2014/main" id="{9EEA416F-9697-65B4-8630-41B7BA86D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85972" y="1391655"/>
            <a:ext cx="4914899" cy="45574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05606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3C30-F1AA-6705-D911-1F2EF739D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7298"/>
            <a:ext cx="9291215" cy="1049235"/>
          </a:xfrm>
        </p:spPr>
        <p:txBody>
          <a:bodyPr/>
          <a:lstStyle/>
          <a:p>
            <a:r>
              <a:rPr lang="en-IN" dirty="0" err="1"/>
              <a:t>Scanf</a:t>
            </a:r>
            <a:r>
              <a:rPr lang="en-IN" dirty="0"/>
              <a:t> &amp; </a:t>
            </a:r>
            <a:r>
              <a:rPr lang="en-IN" dirty="0" err="1"/>
              <a:t>Printf</a:t>
            </a:r>
            <a:r>
              <a:rPr lang="en-IN" dirty="0"/>
              <a:t> Functions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D69B4-B35C-5C58-5FC3-AB52ADD12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275" y="1186533"/>
            <a:ext cx="11095629" cy="5146028"/>
          </a:xfrm>
        </p:spPr>
        <p:txBody>
          <a:bodyPr>
            <a:normAutofit/>
          </a:bodyPr>
          <a:lstStyle/>
          <a:p>
            <a:r>
              <a:rPr lang="en-IN" sz="2400" dirty="0" err="1"/>
              <a:t>scanf</a:t>
            </a:r>
            <a:r>
              <a:rPr lang="en-IN" sz="2400" dirty="0"/>
              <a:t>( ) -  is used to take input from the user</a:t>
            </a:r>
          </a:p>
          <a:p>
            <a:pPr lvl="1"/>
            <a:r>
              <a:rPr lang="en-IN" sz="2000" dirty="0"/>
              <a:t>The function </a:t>
            </a:r>
            <a:r>
              <a:rPr lang="en-IN" sz="2000" dirty="0" err="1"/>
              <a:t>scanf</a:t>
            </a:r>
            <a:r>
              <a:rPr lang="en-IN" sz="2000" dirty="0"/>
              <a:t>() is used to read formatted input from </a:t>
            </a:r>
            <a:r>
              <a:rPr lang="en-IN" sz="2000" b="1" dirty="0"/>
              <a:t>stdin</a:t>
            </a:r>
            <a:r>
              <a:rPr lang="en-IN" sz="2000" dirty="0"/>
              <a:t> in C language. </a:t>
            </a:r>
          </a:p>
          <a:p>
            <a:r>
              <a:rPr lang="en-IN" sz="2400" dirty="0" err="1"/>
              <a:t>printf</a:t>
            </a:r>
            <a:r>
              <a:rPr lang="en-IN" sz="2400" dirty="0"/>
              <a:t>( ) - is used to display output result on the screen</a:t>
            </a:r>
          </a:p>
          <a:p>
            <a:pPr lvl="1"/>
            <a:r>
              <a:rPr lang="en-IN" sz="2000" dirty="0"/>
              <a:t>The C library function sends formatted output to </a:t>
            </a:r>
            <a:r>
              <a:rPr lang="en-IN" sz="2000" b="1" dirty="0" err="1"/>
              <a:t>stdout</a:t>
            </a:r>
            <a:r>
              <a:rPr lang="en-IN" sz="2000" dirty="0"/>
              <a:t>.</a:t>
            </a:r>
          </a:p>
          <a:p>
            <a:r>
              <a:rPr lang="en-IN" sz="2400" dirty="0"/>
              <a:t>Syntax: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Format specifiers start with a percentage </a:t>
            </a:r>
            <a:r>
              <a:rPr lang="en-IN" sz="2400" i="1" dirty="0"/>
              <a:t>%</a:t>
            </a:r>
            <a:r>
              <a:rPr lang="en-IN" sz="2400" dirty="0"/>
              <a:t> operator and followed by a special character for identifying the type of data.</a:t>
            </a:r>
            <a:endParaRPr lang="en-IN" sz="2400" b="1" dirty="0"/>
          </a:p>
          <a:p>
            <a:pPr>
              <a:buNone/>
            </a:pPr>
            <a:endParaRPr lang="en-IN" sz="2400" b="1" dirty="0"/>
          </a:p>
          <a:p>
            <a:endParaRPr lang="en-IN" sz="2400" b="1" dirty="0"/>
          </a:p>
          <a:p>
            <a:endParaRPr lang="en-A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5C34D-6C82-7A90-B9B7-511D39004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9809" y="158338"/>
            <a:ext cx="811019" cy="503578"/>
          </a:xfrm>
        </p:spPr>
        <p:txBody>
          <a:bodyPr/>
          <a:lstStyle/>
          <a:p>
            <a:fld id="{B6E74EE0-3163-42B5-81F1-819033D53CB5}" type="slidenum">
              <a:rPr lang="en-AE" smtClean="0"/>
              <a:t>34</a:t>
            </a:fld>
            <a:endParaRPr lang="en-A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31695C-772E-2EAC-30EF-F8BB95D9F2F1}"/>
              </a:ext>
            </a:extLst>
          </p:cNvPr>
          <p:cNvSpPr txBox="1"/>
          <p:nvPr/>
        </p:nvSpPr>
        <p:spPr>
          <a:xfrm>
            <a:off x="3351394" y="3457847"/>
            <a:ext cx="7391400" cy="92333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 err="1"/>
              <a:t>scanf</a:t>
            </a:r>
            <a:r>
              <a:rPr lang="en-IN" b="1" dirty="0"/>
              <a:t>("control string/format </a:t>
            </a:r>
            <a:r>
              <a:rPr lang="en-IN" b="1" dirty="0" err="1"/>
              <a:t>specifier</a:t>
            </a:r>
            <a:r>
              <a:rPr lang="en-IN" b="1" dirty="0"/>
              <a:t>", arg1, arg2, ..., </a:t>
            </a:r>
            <a:r>
              <a:rPr lang="en-IN" b="1" dirty="0" err="1"/>
              <a:t>argn</a:t>
            </a:r>
            <a:r>
              <a:rPr lang="en-IN" b="1" dirty="0"/>
              <a:t>);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 err="1"/>
              <a:t>printf</a:t>
            </a:r>
            <a:r>
              <a:rPr lang="en-IN" b="1" dirty="0"/>
              <a:t>("control string/format </a:t>
            </a:r>
            <a:r>
              <a:rPr lang="en-IN" b="1" dirty="0" err="1"/>
              <a:t>specifier</a:t>
            </a:r>
            <a:r>
              <a:rPr lang="en-IN" b="1" dirty="0"/>
              <a:t>", arg1, arg2, ..., </a:t>
            </a:r>
            <a:r>
              <a:rPr lang="en-IN" b="1" dirty="0" err="1"/>
              <a:t>argn</a:t>
            </a:r>
            <a:r>
              <a:rPr lang="en-IN" b="1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73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CD811-EC67-DCAA-4278-34DB8D5F3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BE6F2-92D9-CEAB-CD7E-FADBBC6EE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3A616-141F-C43B-4BB4-A22340E0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35</a:t>
            </a:fld>
            <a:endParaRPr lang="en-AE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9392F22-BA62-83AB-2454-8F83CC12F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0156" y="1041847"/>
            <a:ext cx="9083585" cy="5011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51385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ADAA-A83C-2490-E1A2-2E4674375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88D4F-9EB2-A4E3-0168-2729A60B0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4167F-CE47-A86F-C04A-3511CAF2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36</a:t>
            </a:fld>
            <a:endParaRPr lang="en-AE"/>
          </a:p>
        </p:txBody>
      </p:sp>
      <p:pic>
        <p:nvPicPr>
          <p:cNvPr id="5" name="Picture 6" descr="Image result for format specifier in c">
            <a:extLst>
              <a:ext uri="{FF2B5EF4-FFF2-40B4-BE49-F238E27FC236}">
                <a16:creationId xmlns:a16="http://schemas.microsoft.com/office/drawing/2014/main" id="{C246D249-D93E-5B5D-8716-768002691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4694" y="603913"/>
            <a:ext cx="7848600" cy="59127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530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9C75A-B813-4F3A-5A16-DE36FF578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291215" cy="4016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/* c program to print value of a variable */</a:t>
            </a:r>
          </a:p>
          <a:p>
            <a:pPr>
              <a:buNone/>
            </a:pPr>
            <a:r>
              <a:rPr lang="en-IN" sz="2400" dirty="0"/>
              <a:t> #include&lt;stdio.h&gt; </a:t>
            </a:r>
          </a:p>
          <a:p>
            <a:pPr>
              <a:buNone/>
            </a:pPr>
            <a:r>
              <a:rPr lang="en-IN" sz="2400" dirty="0"/>
              <a:t>void main() </a:t>
            </a:r>
          </a:p>
          <a:p>
            <a:pPr>
              <a:buNone/>
            </a:pPr>
            <a:r>
              <a:rPr lang="en-IN" sz="2400" dirty="0"/>
              <a:t>{</a:t>
            </a:r>
          </a:p>
          <a:p>
            <a:pPr>
              <a:buNone/>
            </a:pPr>
            <a:r>
              <a:rPr lang="en-IN" sz="2400" dirty="0"/>
              <a:t>	int age = 20; </a:t>
            </a:r>
          </a:p>
          <a:p>
            <a:pPr>
              <a:buNone/>
            </a:pPr>
            <a:r>
              <a:rPr lang="en-IN" sz="2400" dirty="0"/>
              <a:t>	</a:t>
            </a:r>
            <a:r>
              <a:rPr lang="en-IN" sz="2400" dirty="0" err="1"/>
              <a:t>printf</a:t>
            </a:r>
            <a:r>
              <a:rPr lang="en-IN" sz="2400" dirty="0"/>
              <a:t>("I am %d years old.\n", age); </a:t>
            </a:r>
          </a:p>
          <a:p>
            <a:pPr>
              <a:buNone/>
            </a:pPr>
            <a:r>
              <a:rPr lang="en-IN" sz="2400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6D011-4E7F-1014-70FE-638CF6A7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37</a:t>
            </a:fld>
            <a:endParaRPr lang="en-A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2877F-C9B8-AB5E-B27D-E5B75DB40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7452" y="1007059"/>
            <a:ext cx="9291638" cy="53553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cap="none" dirty="0" err="1"/>
              <a:t>printf</a:t>
            </a:r>
            <a:r>
              <a:rPr lang="en-IN" cap="none" dirty="0"/>
              <a:t>("%d",&lt;variable name&gt;);</a:t>
            </a:r>
          </a:p>
        </p:txBody>
      </p:sp>
    </p:spTree>
    <p:extLst>
      <p:ext uri="{BB962C8B-B14F-4D97-AF65-F5344CB8AC3E}">
        <p14:creationId xmlns:p14="http://schemas.microsoft.com/office/powerpoint/2010/main" val="4156525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0DEDB-8863-A465-91D7-1A62ACDFA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1302551"/>
            <a:ext cx="4488654" cy="4797997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fontAlgn="base">
              <a:buNone/>
            </a:pPr>
            <a:r>
              <a:rPr lang="en-IN" dirty="0"/>
              <a:t> int main()</a:t>
            </a:r>
          </a:p>
          <a:p>
            <a:pPr fontAlgn="base">
              <a:buNone/>
            </a:pPr>
            <a:r>
              <a:rPr lang="en-IN" dirty="0"/>
              <a:t>{ </a:t>
            </a:r>
          </a:p>
          <a:p>
            <a:pPr fontAlgn="base">
              <a:buNone/>
            </a:pPr>
            <a:r>
              <a:rPr lang="en-IN" dirty="0"/>
              <a:t>	char chr; </a:t>
            </a:r>
          </a:p>
          <a:p>
            <a:pPr fontAlgn="base"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("Enter a character: "); </a:t>
            </a:r>
          </a:p>
          <a:p>
            <a:pPr fontAlgn="base">
              <a:buNone/>
            </a:pPr>
            <a:r>
              <a:rPr lang="en-IN" dirty="0"/>
              <a:t>	</a:t>
            </a:r>
            <a:r>
              <a:rPr lang="en-IN" dirty="0" err="1"/>
              <a:t>scanf</a:t>
            </a:r>
            <a:r>
              <a:rPr lang="en-IN" dirty="0"/>
              <a:t>("%</a:t>
            </a:r>
            <a:r>
              <a:rPr lang="en-IN" dirty="0" err="1"/>
              <a:t>c",&amp;chr</a:t>
            </a:r>
            <a:r>
              <a:rPr lang="en-IN" dirty="0"/>
              <a:t>); </a:t>
            </a:r>
          </a:p>
          <a:p>
            <a:pPr fontAlgn="base"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("You entered %c.", chr); </a:t>
            </a:r>
          </a:p>
          <a:p>
            <a:pPr fontAlgn="base">
              <a:buNone/>
            </a:pPr>
            <a:r>
              <a:rPr lang="en-IN" dirty="0"/>
              <a:t>	return 0; </a:t>
            </a:r>
          </a:p>
          <a:p>
            <a:pPr fontAlgn="base">
              <a:buNone/>
            </a:pPr>
            <a:r>
              <a:rPr lang="en-IN" dirty="0"/>
              <a:t>}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9CBD38-CE6C-43ED-8BDB-C68D07FEE5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fontAlgn="base">
              <a:buNone/>
            </a:pPr>
            <a:r>
              <a:rPr lang="en-IN" dirty="0"/>
              <a:t> </a:t>
            </a:r>
            <a:r>
              <a:rPr lang="en-IN" b="1" dirty="0"/>
              <a:t>Output</a:t>
            </a:r>
            <a:endParaRPr lang="en-IN" dirty="0"/>
          </a:p>
          <a:p>
            <a:pPr>
              <a:buNone/>
            </a:pPr>
            <a:r>
              <a:rPr lang="en-IN" dirty="0"/>
              <a:t>	Enter a character: g </a:t>
            </a:r>
          </a:p>
          <a:p>
            <a:pPr>
              <a:buNone/>
            </a:pPr>
            <a:r>
              <a:rPr lang="en-IN" dirty="0"/>
              <a:t>	You entered g.</a:t>
            </a:r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71EBF-EB91-DA50-882E-98E70AB2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38</a:t>
            </a:fld>
            <a:endParaRPr lang="en-A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BB895-905D-CE76-4B26-6BA0BBB7A127}"/>
              </a:ext>
            </a:extLst>
          </p:cNvPr>
          <p:cNvSpPr txBox="1"/>
          <p:nvPr/>
        </p:nvSpPr>
        <p:spPr>
          <a:xfrm>
            <a:off x="2920100" y="462946"/>
            <a:ext cx="6668079" cy="58477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 err="1"/>
              <a:t>scanf</a:t>
            </a:r>
            <a:r>
              <a:rPr lang="en-IN" sz="2400" dirty="0"/>
              <a:t>("%d",&amp;&lt;</a:t>
            </a:r>
            <a:r>
              <a:rPr lang="en-IN" sz="3200" dirty="0"/>
              <a:t>variable</a:t>
            </a:r>
            <a:r>
              <a:rPr lang="en-IN" sz="2400" dirty="0"/>
              <a:t> name&gt;);</a:t>
            </a:r>
          </a:p>
        </p:txBody>
      </p:sp>
    </p:spTree>
    <p:extLst>
      <p:ext uri="{BB962C8B-B14F-4D97-AF65-F5344CB8AC3E}">
        <p14:creationId xmlns:p14="http://schemas.microsoft.com/office/powerpoint/2010/main" val="3645372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FAFD6F-D290-2A68-176E-F459620E8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36478"/>
            <a:ext cx="9291215" cy="6127844"/>
          </a:xfrm>
        </p:spPr>
        <p:txBody>
          <a:bodyPr>
            <a:normAutofit lnSpcReduction="10000"/>
          </a:bodyPr>
          <a:lstStyle/>
          <a:p>
            <a:pPr fontAlgn="base">
              <a:buNone/>
            </a:pPr>
            <a:r>
              <a:rPr lang="en-IN" sz="2400" dirty="0"/>
              <a:t>#include &lt;</a:t>
            </a:r>
            <a:r>
              <a:rPr lang="en-IN" sz="2400" dirty="0" err="1"/>
              <a:t>stdio.h</a:t>
            </a:r>
            <a:r>
              <a:rPr lang="en-IN" sz="2400" dirty="0"/>
              <a:t>&gt;</a:t>
            </a:r>
          </a:p>
          <a:p>
            <a:pPr fontAlgn="base">
              <a:buNone/>
            </a:pPr>
            <a:r>
              <a:rPr lang="en-IN" sz="2400" dirty="0"/>
              <a:t> int main()</a:t>
            </a:r>
          </a:p>
          <a:p>
            <a:pPr fontAlgn="base">
              <a:buNone/>
            </a:pPr>
            <a:r>
              <a:rPr lang="en-IN" sz="2400" dirty="0"/>
              <a:t>{ </a:t>
            </a:r>
          </a:p>
          <a:p>
            <a:pPr fontAlgn="base">
              <a:buNone/>
            </a:pPr>
            <a:r>
              <a:rPr lang="en-IN" sz="2400" dirty="0"/>
              <a:t>	char chr; </a:t>
            </a:r>
          </a:p>
          <a:p>
            <a:pPr fontAlgn="base">
              <a:buNone/>
            </a:pPr>
            <a:r>
              <a:rPr lang="en-IN" sz="2400" dirty="0"/>
              <a:t>	</a:t>
            </a:r>
            <a:r>
              <a:rPr lang="en-IN" sz="2400" dirty="0" err="1"/>
              <a:t>printf</a:t>
            </a:r>
            <a:r>
              <a:rPr lang="en-IN" sz="2400" dirty="0"/>
              <a:t>("Enter a character: "); </a:t>
            </a:r>
          </a:p>
          <a:p>
            <a:pPr fontAlgn="base">
              <a:buNone/>
            </a:pPr>
            <a:r>
              <a:rPr lang="en-IN" sz="2400" dirty="0"/>
              <a:t>	</a:t>
            </a:r>
            <a:r>
              <a:rPr lang="en-IN" sz="2400" dirty="0" err="1"/>
              <a:t>scanf</a:t>
            </a:r>
            <a:r>
              <a:rPr lang="en-IN" sz="2400" dirty="0"/>
              <a:t>("%</a:t>
            </a:r>
            <a:r>
              <a:rPr lang="en-IN" sz="2400" dirty="0" err="1"/>
              <a:t>c",&amp;chr</a:t>
            </a:r>
            <a:r>
              <a:rPr lang="en-IN" sz="2400" dirty="0"/>
              <a:t>); </a:t>
            </a:r>
          </a:p>
          <a:p>
            <a:pPr fontAlgn="base">
              <a:buNone/>
            </a:pPr>
            <a:r>
              <a:rPr lang="en-IN" sz="2400" dirty="0"/>
              <a:t>	// When %c is used, a character is displayed </a:t>
            </a:r>
          </a:p>
          <a:p>
            <a:pPr fontAlgn="base">
              <a:buNone/>
            </a:pPr>
            <a:r>
              <a:rPr lang="en-IN" sz="2400" dirty="0" err="1"/>
              <a:t>printf</a:t>
            </a:r>
            <a:r>
              <a:rPr lang="en-IN" sz="2400" dirty="0"/>
              <a:t>("You entered </a:t>
            </a:r>
            <a:r>
              <a:rPr lang="en-IN" sz="2400" dirty="0">
                <a:solidFill>
                  <a:srgbClr val="FFC000"/>
                </a:solidFill>
              </a:rPr>
              <a:t>%c</a:t>
            </a:r>
            <a:r>
              <a:rPr lang="en-IN" sz="2400" dirty="0"/>
              <a:t>.\</a:t>
            </a:r>
            <a:r>
              <a:rPr lang="en-IN" sz="2400" dirty="0" err="1"/>
              <a:t>n",chr</a:t>
            </a:r>
            <a:r>
              <a:rPr lang="en-IN" sz="2400" dirty="0"/>
              <a:t>); </a:t>
            </a:r>
          </a:p>
          <a:p>
            <a:pPr fontAlgn="base">
              <a:buNone/>
            </a:pPr>
            <a:r>
              <a:rPr lang="en-IN" sz="2400" dirty="0"/>
              <a:t>	// When %d is used, ASCII value is displayed </a:t>
            </a:r>
          </a:p>
          <a:p>
            <a:pPr fontAlgn="base">
              <a:buNone/>
            </a:pPr>
            <a:r>
              <a:rPr lang="en-IN" sz="2400" dirty="0" err="1"/>
              <a:t>printf</a:t>
            </a:r>
            <a:r>
              <a:rPr lang="en-IN" sz="2400" dirty="0"/>
              <a:t>("ASCII value is </a:t>
            </a:r>
            <a:r>
              <a:rPr lang="en-IN" sz="2400" dirty="0">
                <a:solidFill>
                  <a:srgbClr val="FFC000"/>
                </a:solidFill>
              </a:rPr>
              <a:t>% d.</a:t>
            </a:r>
            <a:r>
              <a:rPr lang="en-IN" sz="2400" dirty="0"/>
              <a:t>", chr); </a:t>
            </a:r>
          </a:p>
          <a:p>
            <a:pPr fontAlgn="base">
              <a:buNone/>
            </a:pPr>
            <a:r>
              <a:rPr lang="en-IN" sz="2400" dirty="0"/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AD8A4-3D4D-6D37-7436-DE7CA7C6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39</a:t>
            </a:fld>
            <a:endParaRPr lang="en-A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CEA5C-14DF-4331-5860-B50E651E88F2}"/>
              </a:ext>
            </a:extLst>
          </p:cNvPr>
          <p:cNvSpPr txBox="1"/>
          <p:nvPr/>
        </p:nvSpPr>
        <p:spPr>
          <a:xfrm>
            <a:off x="7576782" y="1177793"/>
            <a:ext cx="33265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IN" b="1" dirty="0"/>
              <a:t>Output</a:t>
            </a:r>
          </a:p>
          <a:p>
            <a:pPr>
              <a:buNone/>
            </a:pPr>
            <a:r>
              <a:rPr lang="en-IN" dirty="0"/>
              <a:t>	Enter a character: g</a:t>
            </a:r>
          </a:p>
          <a:p>
            <a:pPr>
              <a:buNone/>
            </a:pPr>
            <a:r>
              <a:rPr lang="en-IN" dirty="0"/>
              <a:t>	 You entered g. </a:t>
            </a:r>
          </a:p>
          <a:p>
            <a:pPr>
              <a:buNone/>
            </a:pPr>
            <a:r>
              <a:rPr lang="en-IN" dirty="0"/>
              <a:t>	ASCII value is 103.</a:t>
            </a:r>
          </a:p>
        </p:txBody>
      </p:sp>
    </p:spTree>
    <p:extLst>
      <p:ext uri="{BB962C8B-B14F-4D97-AF65-F5344CB8AC3E}">
        <p14:creationId xmlns:p14="http://schemas.microsoft.com/office/powerpoint/2010/main" val="378783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D895-D53C-44FE-4419-7AA571A2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values I/O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B1ADF-03F4-6DC9-F6E7-F1E21B357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// Taking multiple inputs </a:t>
            </a:r>
          </a:p>
          <a:p>
            <a:pPr>
              <a:buNone/>
            </a:pPr>
            <a:r>
              <a:rPr lang="en-IN" sz="3200" dirty="0"/>
              <a:t>   </a:t>
            </a:r>
            <a:r>
              <a:rPr lang="en-IN" sz="3200" dirty="0" err="1"/>
              <a:t>scanf</a:t>
            </a:r>
            <a:r>
              <a:rPr lang="en-IN" sz="3200" dirty="0"/>
              <a:t>("%d %f", &amp;a, &amp;b); </a:t>
            </a:r>
          </a:p>
          <a:p>
            <a:pPr>
              <a:buNone/>
            </a:pPr>
            <a:r>
              <a:rPr lang="en-IN" sz="3200" dirty="0"/>
              <a:t>   </a:t>
            </a:r>
            <a:r>
              <a:rPr lang="en-IN" sz="3200" dirty="0" err="1"/>
              <a:t>printf</a:t>
            </a:r>
            <a:r>
              <a:rPr lang="en-IN" sz="3200" dirty="0"/>
              <a:t>("You entered %d and %f", a, b);</a:t>
            </a:r>
          </a:p>
          <a:p>
            <a:pPr marL="0" indent="0">
              <a:buNone/>
            </a:pPr>
            <a:endParaRPr lang="en-AE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D2EBC-9C4A-058F-271C-96323C9E3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40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777890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8CF9C-662A-40D1-556B-B0150F7B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749" y="40244"/>
            <a:ext cx="9291215" cy="1049235"/>
          </a:xfrm>
        </p:spPr>
        <p:txBody>
          <a:bodyPr/>
          <a:lstStyle/>
          <a:p>
            <a:r>
              <a:rPr lang="en-IN" dirty="0"/>
              <a:t>Other I/O functions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5AD18-7651-7609-8816-D9185E643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019" y="873458"/>
            <a:ext cx="11089829" cy="54454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400" b="1" dirty="0" err="1">
                <a:solidFill>
                  <a:srgbClr val="FFC000"/>
                </a:solidFill>
              </a:rPr>
              <a:t>getchar</a:t>
            </a:r>
            <a:r>
              <a:rPr lang="en-IN" sz="2400" b="1" dirty="0">
                <a:solidFill>
                  <a:srgbClr val="FFC000"/>
                </a:solidFill>
              </a:rPr>
              <a:t>()</a:t>
            </a:r>
          </a:p>
          <a:p>
            <a:r>
              <a:rPr lang="en-IN" sz="2400" dirty="0"/>
              <a:t>The </a:t>
            </a:r>
            <a:r>
              <a:rPr lang="en-IN" sz="2400" dirty="0" err="1"/>
              <a:t>getchar</a:t>
            </a:r>
            <a:r>
              <a:rPr lang="en-IN" sz="2400" dirty="0"/>
              <a:t>() function is used to read a single character from the standard input unit.</a:t>
            </a:r>
          </a:p>
          <a:p>
            <a:r>
              <a:rPr lang="en-IN" sz="2400" dirty="0"/>
              <a:t>It takes the following form:</a:t>
            </a:r>
          </a:p>
          <a:p>
            <a:pPr>
              <a:buNone/>
            </a:pPr>
            <a:r>
              <a:rPr lang="en-IN" sz="2400" dirty="0"/>
              <a:t>		</a:t>
            </a:r>
            <a:r>
              <a:rPr lang="en-IN" sz="2400" dirty="0" err="1">
                <a:solidFill>
                  <a:srgbClr val="FFFF00"/>
                </a:solidFill>
              </a:rPr>
              <a:t>variable_name</a:t>
            </a:r>
            <a:r>
              <a:rPr lang="en-IN" sz="2400" dirty="0">
                <a:solidFill>
                  <a:srgbClr val="FFFF00"/>
                </a:solidFill>
              </a:rPr>
              <a:t>= </a:t>
            </a:r>
            <a:r>
              <a:rPr lang="en-IN" sz="2400" dirty="0" err="1">
                <a:solidFill>
                  <a:srgbClr val="FFFF00"/>
                </a:solidFill>
              </a:rPr>
              <a:t>getchar</a:t>
            </a:r>
            <a:r>
              <a:rPr lang="en-IN" sz="2400" dirty="0">
                <a:solidFill>
                  <a:srgbClr val="FFFF00"/>
                </a:solidFill>
              </a:rPr>
              <a:t>();</a:t>
            </a:r>
          </a:p>
          <a:p>
            <a:pPr>
              <a:buNone/>
            </a:pPr>
            <a:r>
              <a:rPr lang="en-IN" sz="2400" dirty="0">
                <a:solidFill>
                  <a:srgbClr val="FFC000"/>
                </a:solidFill>
              </a:rPr>
              <a:t>	char c;</a:t>
            </a:r>
          </a:p>
          <a:p>
            <a:pPr>
              <a:buNone/>
            </a:pPr>
            <a:r>
              <a:rPr lang="en-IN" sz="2400" dirty="0">
                <a:solidFill>
                  <a:srgbClr val="FFC000"/>
                </a:solidFill>
              </a:rPr>
              <a:t>	c=</a:t>
            </a:r>
            <a:r>
              <a:rPr lang="en-IN" sz="2400" dirty="0" err="1">
                <a:solidFill>
                  <a:srgbClr val="FFC000"/>
                </a:solidFill>
              </a:rPr>
              <a:t>getchar</a:t>
            </a:r>
            <a:r>
              <a:rPr lang="en-IN" sz="2400" dirty="0">
                <a:solidFill>
                  <a:srgbClr val="FFC000"/>
                </a:solidFill>
              </a:rPr>
              <a:t>();	</a:t>
            </a:r>
          </a:p>
          <a:p>
            <a:r>
              <a:rPr lang="en-IN" sz="2400" dirty="0" err="1"/>
              <a:t>getchar</a:t>
            </a:r>
            <a:r>
              <a:rPr lang="en-IN" sz="2400" dirty="0"/>
              <a:t> can be used only with character data types, whereas </a:t>
            </a:r>
            <a:r>
              <a:rPr lang="en-IN" sz="2400" dirty="0" err="1"/>
              <a:t>scanf</a:t>
            </a:r>
            <a:r>
              <a:rPr lang="en-IN" sz="2400" dirty="0"/>
              <a:t> can be used with any data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B9B25-295F-0078-1E19-4280973D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40244"/>
            <a:ext cx="811019" cy="503578"/>
          </a:xfrm>
        </p:spPr>
        <p:txBody>
          <a:bodyPr/>
          <a:lstStyle/>
          <a:p>
            <a:fld id="{B6E74EE0-3163-42B5-81F1-819033D53CB5}" type="slidenum">
              <a:rPr lang="en-AE" smtClean="0"/>
              <a:t>41</a:t>
            </a:fld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248564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12B4-EC62-26F5-5111-E16D05AB8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BA8AF-71E8-B3BB-C0D7-148BE090B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 err="1"/>
              <a:t>getch</a:t>
            </a:r>
            <a:r>
              <a:rPr lang="en-IN" b="1" dirty="0"/>
              <a:t>()</a:t>
            </a:r>
          </a:p>
          <a:p>
            <a:r>
              <a:rPr lang="en-IN" dirty="0"/>
              <a:t>Reads a single character from the keyboard, </a:t>
            </a:r>
            <a:r>
              <a:rPr lang="en-IN" b="1" dirty="0"/>
              <a:t>but doesn’t display to the screen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 err="1"/>
              <a:t>getche</a:t>
            </a:r>
            <a:r>
              <a:rPr lang="en-IN" b="1" dirty="0"/>
              <a:t>()</a:t>
            </a:r>
          </a:p>
          <a:p>
            <a:r>
              <a:rPr lang="en-IN" dirty="0"/>
              <a:t>Does the same, but displays the character entered back to the user(echoes back)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76166-E036-CA5A-829C-9BD6E7E5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42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008834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4416-A5C2-C2FC-0AD9-B6B06C8A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03175-EFEA-1F3A-57E8-397A8443C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sz="2800" dirty="0" err="1"/>
              <a:t>getch</a:t>
            </a:r>
            <a:r>
              <a:rPr lang="en-GB" sz="2800" dirty="0"/>
              <a:t>()Reads one character from the keyboard without showing it on the screen and without pressing Enter.</a:t>
            </a:r>
          </a:p>
          <a:p>
            <a:r>
              <a:rPr lang="en-GB" sz="2800" dirty="0" err="1"/>
              <a:t>getche</a:t>
            </a:r>
            <a:r>
              <a:rPr lang="en-GB" sz="2800" dirty="0"/>
              <a:t>()Reads one character, shows it on the screen, and does not need Enter.</a:t>
            </a:r>
          </a:p>
          <a:p>
            <a:r>
              <a:rPr lang="en-GB" sz="2800" dirty="0" err="1"/>
              <a:t>getchar</a:t>
            </a:r>
            <a:r>
              <a:rPr lang="en-GB" sz="2800" dirty="0"/>
              <a:t>()Reads one character after pressing Enter and shows it on the screen.</a:t>
            </a:r>
            <a:endParaRPr lang="en-AE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0A5A5-628A-4F37-6BDB-E8F849C7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43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600335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80B7E-406A-F442-0B7D-EB6A8050C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59308"/>
            <a:ext cx="9291215" cy="623702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1800" dirty="0"/>
              <a:t>#include&lt;stdio.h&gt;</a:t>
            </a:r>
          </a:p>
          <a:p>
            <a:pPr marL="0" indent="0">
              <a:buNone/>
            </a:pPr>
            <a:r>
              <a:rPr lang="en-GB" sz="1800" dirty="0"/>
              <a:t>#include&lt;conio.h&gt;</a:t>
            </a:r>
          </a:p>
          <a:p>
            <a:pPr marL="0" indent="0">
              <a:buNone/>
            </a:pPr>
            <a:r>
              <a:rPr lang="en-GB" sz="1800" dirty="0"/>
              <a:t>void main()</a:t>
            </a:r>
          </a:p>
          <a:p>
            <a:pPr marL="0" indent="0">
              <a:buNone/>
            </a:pPr>
            <a:r>
              <a:rPr lang="en-GB" sz="1800" dirty="0"/>
              <a:t>{</a:t>
            </a:r>
          </a:p>
          <a:p>
            <a:pPr marL="0" indent="0">
              <a:buNone/>
            </a:pPr>
            <a:r>
              <a:rPr lang="en-GB" sz="1800" dirty="0"/>
              <a:t>    char ch,ch1,ch2;</a:t>
            </a:r>
          </a:p>
          <a:p>
            <a:pPr marL="0" indent="0">
              <a:buNone/>
            </a:pPr>
            <a:r>
              <a:rPr lang="en-GB" sz="1800" dirty="0"/>
              <a:t>    </a:t>
            </a:r>
            <a:r>
              <a:rPr lang="en-GB" sz="1800" dirty="0" err="1"/>
              <a:t>printf</a:t>
            </a:r>
            <a:r>
              <a:rPr lang="en-GB" sz="1800" dirty="0"/>
              <a:t>("Enter character : ");</a:t>
            </a:r>
          </a:p>
          <a:p>
            <a:pPr marL="0" indent="0">
              <a:buNone/>
            </a:pPr>
            <a:r>
              <a:rPr lang="en-GB" sz="1800" dirty="0"/>
              <a:t>    </a:t>
            </a:r>
            <a:r>
              <a:rPr lang="en-GB" sz="1800" dirty="0" err="1"/>
              <a:t>ch</a:t>
            </a:r>
            <a:r>
              <a:rPr lang="en-GB" sz="1800" dirty="0"/>
              <a:t>=</a:t>
            </a:r>
            <a:r>
              <a:rPr lang="en-GB" sz="1800" dirty="0" err="1"/>
              <a:t>getchar</a:t>
            </a:r>
            <a:r>
              <a:rPr lang="en-GB" sz="1800" dirty="0"/>
              <a:t>();</a:t>
            </a:r>
          </a:p>
          <a:p>
            <a:pPr marL="0" indent="0">
              <a:buNone/>
            </a:pPr>
            <a:r>
              <a:rPr lang="en-GB" sz="1800" dirty="0"/>
              <a:t>    </a:t>
            </a:r>
            <a:r>
              <a:rPr lang="en-GB" sz="1800" dirty="0" err="1"/>
              <a:t>printf</a:t>
            </a:r>
            <a:r>
              <a:rPr lang="en-GB" sz="1800" dirty="0"/>
              <a:t>("%c",</a:t>
            </a:r>
            <a:r>
              <a:rPr lang="en-GB" sz="1800" dirty="0" err="1"/>
              <a:t>ch</a:t>
            </a:r>
            <a:r>
              <a:rPr lang="en-GB" sz="1800" dirty="0"/>
              <a:t>);</a:t>
            </a:r>
          </a:p>
          <a:p>
            <a:pPr marL="0" indent="0">
              <a:buNone/>
            </a:pPr>
            <a:r>
              <a:rPr lang="en-GB" sz="1800" dirty="0"/>
              <a:t>    </a:t>
            </a:r>
            <a:r>
              <a:rPr lang="en-GB" sz="1800" dirty="0" err="1"/>
              <a:t>printf</a:t>
            </a:r>
            <a:r>
              <a:rPr lang="en-GB" sz="1800" dirty="0"/>
              <a:t>("\</a:t>
            </a:r>
            <a:r>
              <a:rPr lang="en-GB" sz="1800" dirty="0" err="1"/>
              <a:t>nEnter</a:t>
            </a:r>
            <a:r>
              <a:rPr lang="en-GB" sz="1800" dirty="0"/>
              <a:t> character : ");</a:t>
            </a:r>
          </a:p>
          <a:p>
            <a:pPr marL="0" indent="0">
              <a:buNone/>
            </a:pPr>
            <a:r>
              <a:rPr lang="en-GB" sz="1800" dirty="0"/>
              <a:t>    ch1=</a:t>
            </a:r>
            <a:r>
              <a:rPr lang="en-GB" sz="1800" dirty="0" err="1"/>
              <a:t>getch</a:t>
            </a:r>
            <a:r>
              <a:rPr lang="en-GB" sz="1800" dirty="0"/>
              <a:t>();</a:t>
            </a:r>
          </a:p>
          <a:p>
            <a:pPr marL="0" indent="0">
              <a:buNone/>
            </a:pPr>
            <a:r>
              <a:rPr lang="en-GB" sz="1800" dirty="0"/>
              <a:t>    </a:t>
            </a:r>
            <a:r>
              <a:rPr lang="en-GB" sz="1800" dirty="0" err="1"/>
              <a:t>printf</a:t>
            </a:r>
            <a:r>
              <a:rPr lang="en-GB" sz="1800" dirty="0"/>
              <a:t>("%c",ch1);</a:t>
            </a:r>
          </a:p>
          <a:p>
            <a:pPr marL="0" indent="0">
              <a:buNone/>
            </a:pPr>
            <a:r>
              <a:rPr lang="en-GB" sz="1800" dirty="0"/>
              <a:t>    </a:t>
            </a:r>
            <a:r>
              <a:rPr lang="en-GB" sz="1800" dirty="0" err="1"/>
              <a:t>printf</a:t>
            </a:r>
            <a:r>
              <a:rPr lang="en-GB" sz="1800" dirty="0"/>
              <a:t>("\</a:t>
            </a:r>
            <a:r>
              <a:rPr lang="en-GB" sz="1800" dirty="0" err="1"/>
              <a:t>nEnter</a:t>
            </a:r>
            <a:r>
              <a:rPr lang="en-GB" sz="1800" dirty="0"/>
              <a:t> character : ");</a:t>
            </a:r>
          </a:p>
          <a:p>
            <a:pPr marL="0" indent="0">
              <a:buNone/>
            </a:pPr>
            <a:r>
              <a:rPr lang="en-GB" sz="1800" dirty="0"/>
              <a:t>    ch2=</a:t>
            </a:r>
            <a:r>
              <a:rPr lang="en-GB" sz="1800" dirty="0" err="1"/>
              <a:t>getche</a:t>
            </a:r>
            <a:r>
              <a:rPr lang="en-GB" sz="1800" dirty="0"/>
              <a:t>();</a:t>
            </a:r>
          </a:p>
          <a:p>
            <a:pPr marL="0" indent="0">
              <a:buNone/>
            </a:pPr>
            <a:r>
              <a:rPr lang="en-GB" sz="1800" dirty="0"/>
              <a:t>    </a:t>
            </a:r>
            <a:r>
              <a:rPr lang="en-GB" sz="1800" dirty="0" err="1"/>
              <a:t>printf</a:t>
            </a:r>
            <a:r>
              <a:rPr lang="en-GB" sz="1800" dirty="0"/>
              <a:t>("%c",ch2);</a:t>
            </a:r>
          </a:p>
          <a:p>
            <a:pPr marL="0" indent="0">
              <a:buNone/>
            </a:pPr>
            <a:r>
              <a:rPr lang="en-GB" sz="1800" dirty="0"/>
              <a:t>    </a:t>
            </a:r>
            <a:r>
              <a:rPr lang="en-GB" sz="1800" dirty="0" err="1"/>
              <a:t>printf</a:t>
            </a:r>
            <a:r>
              <a:rPr lang="en-GB" sz="1800" dirty="0"/>
              <a:t>("\n%c",ch1);</a:t>
            </a:r>
          </a:p>
          <a:p>
            <a:pPr marL="0" indent="0">
              <a:buNone/>
            </a:pPr>
            <a:r>
              <a:rPr lang="en-GB" sz="1800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444E4-DB66-0FC8-34B1-DDD17EC50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44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244210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56DF0-F230-D05A-C67F-897785CD7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B0A-F74D-2587-8C5D-F64ADC3F9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gets( )  </a:t>
            </a:r>
          </a:p>
          <a:p>
            <a:r>
              <a:rPr lang="en-US" dirty="0"/>
              <a:t>Receives a string from the keyboard.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putchar</a:t>
            </a:r>
            <a:r>
              <a:rPr lang="en-US" b="1" dirty="0"/>
              <a:t>()</a:t>
            </a:r>
          </a:p>
          <a:p>
            <a:r>
              <a:rPr lang="en-US" dirty="0"/>
              <a:t>It displays a single character on the screen. </a:t>
            </a:r>
          </a:p>
          <a:p>
            <a:pPr marL="0" indent="0">
              <a:buNone/>
            </a:pPr>
            <a:r>
              <a:rPr lang="en-IN" dirty="0"/>
              <a:t>It takes the following form: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putchar</a:t>
            </a:r>
            <a:r>
              <a:rPr lang="en-IN" dirty="0"/>
              <a:t> ( variable-name);</a:t>
            </a:r>
          </a:p>
          <a:p>
            <a:pPr marL="0" indent="0">
              <a:buNone/>
            </a:pPr>
            <a:r>
              <a:rPr lang="fr-FR" dirty="0" err="1"/>
              <a:t>Eg</a:t>
            </a:r>
            <a:r>
              <a:rPr lang="fr-FR" dirty="0"/>
              <a:t>: char ans=’y’;</a:t>
            </a:r>
          </a:p>
          <a:p>
            <a:pPr marL="0" indent="0">
              <a:buNone/>
            </a:pPr>
            <a:r>
              <a:rPr lang="fr-FR" dirty="0"/>
              <a:t>      </a:t>
            </a:r>
            <a:r>
              <a:rPr lang="fr-FR" dirty="0" err="1"/>
              <a:t>putchar</a:t>
            </a:r>
            <a:r>
              <a:rPr lang="fr-FR" dirty="0"/>
              <a:t> (ans);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511AE-8D91-A858-8D8F-2CE97E87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45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934800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5D85-AB41-786B-7794-157E9DA7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671F6-AEAA-7D54-7BDC-3046D2A50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puts( )</a:t>
            </a:r>
          </a:p>
          <a:p>
            <a:r>
              <a:rPr lang="en-US" dirty="0"/>
              <a:t>Outputs a string to the screen</a:t>
            </a:r>
          </a:p>
          <a:p>
            <a:pPr marL="0" indent="0">
              <a:buNone/>
            </a:pPr>
            <a:r>
              <a:rPr lang="en-US" dirty="0"/>
              <a:t>Eg: char vehicle [40]; 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printf</a:t>
            </a:r>
            <a:r>
              <a:rPr lang="en-US" dirty="0"/>
              <a:t>(“Enter your vehicle name”); </a:t>
            </a:r>
          </a:p>
          <a:p>
            <a:pPr marL="0" indent="0">
              <a:buNone/>
            </a:pPr>
            <a:r>
              <a:rPr lang="en-US" dirty="0"/>
              <a:t>       gets (vehicle); </a:t>
            </a:r>
          </a:p>
          <a:p>
            <a:pPr marL="0" indent="0">
              <a:buNone/>
            </a:pPr>
            <a:r>
              <a:rPr lang="en-US" dirty="0"/>
              <a:t>       puts (vehicle);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DAB7A-060A-4451-19BC-63F97CBEB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46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81037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736F-D81D-5C45-9DC1-513DF8D0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2B050-6568-960C-F285-436FB4BF4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079" y="1639614"/>
            <a:ext cx="9451715" cy="4267200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An operator is a symbol that tell the computer to perform certain mathematical or logical manipulation.</a:t>
            </a:r>
          </a:p>
          <a:p>
            <a:r>
              <a:rPr lang="en-IN" dirty="0"/>
              <a:t>C language uses many types of operators as listed below:-</a:t>
            </a:r>
          </a:p>
          <a:p>
            <a:pPr marL="822960" lvl="1" indent="-457200">
              <a:buNone/>
            </a:pPr>
            <a:r>
              <a:rPr lang="en-IN" sz="2200" dirty="0"/>
              <a:t>1) Arithmetic Operators</a:t>
            </a:r>
          </a:p>
          <a:p>
            <a:pPr marL="822960" lvl="1" indent="-457200">
              <a:buNone/>
            </a:pPr>
            <a:r>
              <a:rPr lang="en-IN" sz="2200" dirty="0"/>
              <a:t>2) Relational Operators</a:t>
            </a:r>
          </a:p>
          <a:p>
            <a:pPr marL="822960" lvl="1" indent="-457200">
              <a:buNone/>
            </a:pPr>
            <a:r>
              <a:rPr lang="en-IN" sz="2200" dirty="0"/>
              <a:t>3) Logical Operators</a:t>
            </a:r>
          </a:p>
          <a:p>
            <a:pPr marL="822960" lvl="1" indent="-457200">
              <a:buNone/>
            </a:pPr>
            <a:r>
              <a:rPr lang="en-IN" sz="2200" dirty="0"/>
              <a:t>4) Unary, Increment and Decrement Operators</a:t>
            </a:r>
          </a:p>
          <a:p>
            <a:pPr marL="822960" lvl="1" indent="-457200">
              <a:buNone/>
            </a:pPr>
            <a:r>
              <a:rPr lang="en-IN" sz="2200" dirty="0"/>
              <a:t>5) Assignment Operators</a:t>
            </a:r>
          </a:p>
          <a:p>
            <a:pPr marL="822960" lvl="1" indent="-457200">
              <a:buNone/>
            </a:pPr>
            <a:r>
              <a:rPr lang="en-IN" sz="2200" dirty="0"/>
              <a:t>6) Conditional Operators</a:t>
            </a:r>
          </a:p>
          <a:p>
            <a:pPr marL="822960" lvl="1" indent="-457200">
              <a:buNone/>
            </a:pPr>
            <a:r>
              <a:rPr lang="en-IN" sz="2200" dirty="0"/>
              <a:t>7) Bitwise Operators</a:t>
            </a:r>
          </a:p>
          <a:p>
            <a:pPr marL="822960" lvl="1" indent="-457200">
              <a:buNone/>
            </a:pPr>
            <a:r>
              <a:rPr lang="en-IN" sz="2200" dirty="0"/>
              <a:t>8) Special </a:t>
            </a:r>
            <a:r>
              <a:rPr lang="en-IN" dirty="0"/>
              <a:t>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209DE-DD22-1EFB-F6AA-CA749B980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47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641209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65D9-5589-EB75-27A3-6D247BE7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Operators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2B541-207B-0D4A-14FB-B4E428507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291215" cy="403774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solidFill>
                  <a:srgbClr val="FFC000"/>
                </a:solidFill>
              </a:rPr>
              <a:t> Operator 		     Meaning</a:t>
            </a:r>
          </a:p>
          <a:p>
            <a:pPr>
              <a:buNone/>
            </a:pPr>
            <a:r>
              <a:rPr lang="en-IN" dirty="0"/>
              <a:t>		+               	Addition or unary plus</a:t>
            </a:r>
          </a:p>
          <a:p>
            <a:pPr>
              <a:buNone/>
            </a:pPr>
            <a:r>
              <a:rPr lang="en-IN" dirty="0"/>
              <a:t>		-		Subtraction or unary minus</a:t>
            </a:r>
          </a:p>
          <a:p>
            <a:pPr>
              <a:buNone/>
            </a:pPr>
            <a:r>
              <a:rPr lang="en-IN" dirty="0"/>
              <a:t>		*	           	Multiplication</a:t>
            </a:r>
          </a:p>
          <a:p>
            <a:pPr>
              <a:buNone/>
            </a:pPr>
            <a:r>
              <a:rPr lang="en-IN" dirty="0"/>
              <a:t>		/	           	Division</a:t>
            </a:r>
          </a:p>
          <a:p>
            <a:pPr>
              <a:buNone/>
            </a:pPr>
            <a:r>
              <a:rPr lang="en-IN" dirty="0"/>
              <a:t>		%  	           	Modulo division (remainder)</a:t>
            </a:r>
          </a:p>
          <a:p>
            <a:pPr marL="0" indent="0">
              <a:buNone/>
            </a:pPr>
            <a:r>
              <a:rPr lang="en-IN" dirty="0"/>
              <a:t>There’s no exponent operator in C, a library function </a:t>
            </a:r>
            <a:r>
              <a:rPr lang="en-IN" b="1" dirty="0"/>
              <a:t>pow() </a:t>
            </a:r>
            <a:r>
              <a:rPr lang="en-IN" dirty="0"/>
              <a:t>is used to carry out exponentiation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74AF8-45AE-C189-A435-13B2972C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48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447389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20AB-5A32-9930-93B7-BFD22346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Integer arithmetic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505BC-B8AF-2B45-60A5-33C12A478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650124"/>
            <a:ext cx="10414600" cy="4309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Here, a and b are integers, if a= 14 and b=4 then,</a:t>
            </a:r>
          </a:p>
          <a:p>
            <a:pPr>
              <a:buNone/>
            </a:pPr>
            <a:r>
              <a:rPr lang="en-IN" dirty="0"/>
              <a:t>		a –b = 10</a:t>
            </a:r>
          </a:p>
          <a:p>
            <a:pPr>
              <a:buNone/>
            </a:pPr>
            <a:r>
              <a:rPr lang="en-IN" dirty="0"/>
              <a:t>		a + b = 18 </a:t>
            </a:r>
          </a:p>
          <a:p>
            <a:pPr>
              <a:buNone/>
            </a:pPr>
            <a:r>
              <a:rPr lang="en-IN" dirty="0"/>
              <a:t>		a * b = 56</a:t>
            </a:r>
          </a:p>
          <a:p>
            <a:pPr>
              <a:buNone/>
            </a:pPr>
            <a:r>
              <a:rPr lang="en-IN" dirty="0"/>
              <a:t>		a / b  =  3 (decimal part truncated)</a:t>
            </a:r>
          </a:p>
          <a:p>
            <a:pPr>
              <a:buNone/>
            </a:pPr>
            <a:r>
              <a:rPr lang="en-IN" dirty="0"/>
              <a:t>		a % b = 2 (remainder of division)</a:t>
            </a:r>
          </a:p>
          <a:p>
            <a:pPr marL="0" indent="0">
              <a:buNone/>
            </a:pPr>
            <a:r>
              <a:rPr lang="en-IN" dirty="0"/>
              <a:t>When both the operands in a single arithmetic expression are integers, the expression is called an integer expression , and the operation is called integer arithmetic.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6DF6F-8609-6C50-7858-1EFF1D1B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49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206590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C7259-E2AC-9480-29DF-3EDE1088F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253316"/>
            <a:ext cx="9291215" cy="1049235"/>
          </a:xfrm>
        </p:spPr>
        <p:txBody>
          <a:bodyPr/>
          <a:lstStyle/>
          <a:p>
            <a:r>
              <a:rPr lang="en-IN" dirty="0"/>
              <a:t>Real Arithmetic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4E5CE-9D26-2F29-5844-4482DC47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877" y="1302552"/>
            <a:ext cx="11325340" cy="4750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An arithmetic involving only real operands is called </a:t>
            </a:r>
            <a:r>
              <a:rPr lang="en-IN" i="1" dirty="0"/>
              <a:t>real arithmetic.</a:t>
            </a:r>
          </a:p>
          <a:p>
            <a:pPr marL="0" indent="0">
              <a:buNone/>
            </a:pPr>
            <a:r>
              <a:rPr lang="en-IN" dirty="0"/>
              <a:t>A real operand may can have values either in decimal notation or in exponent notation.</a:t>
            </a:r>
          </a:p>
          <a:p>
            <a:pPr marL="0" indent="0">
              <a:buNone/>
            </a:pPr>
            <a:r>
              <a:rPr lang="en-IN" dirty="0"/>
              <a:t>Since floating point values are rounded to the number of significant digits permissible, the final value is an approximation of the correct result.</a:t>
            </a:r>
          </a:p>
          <a:p>
            <a:pPr marL="0" indent="0">
              <a:buNone/>
            </a:pPr>
            <a:r>
              <a:rPr lang="en-IN" dirty="0" err="1"/>
              <a:t>i.e</a:t>
            </a:r>
            <a:r>
              <a:rPr lang="en-IN" dirty="0"/>
              <a:t>,	 6.0/7.0 =0.857143</a:t>
            </a:r>
          </a:p>
          <a:p>
            <a:pPr>
              <a:buNone/>
            </a:pPr>
            <a:r>
              <a:rPr lang="en-IN" dirty="0"/>
              <a:t>		-2.0/3.0 = -0.666667</a:t>
            </a:r>
          </a:p>
          <a:p>
            <a:pPr marL="0" indent="0">
              <a:buNone/>
            </a:pPr>
            <a:r>
              <a:rPr lang="en-IN" dirty="0"/>
              <a:t>The operator modulo(%) cannot be  used with real operands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A6D15-3B19-ABDB-D073-9B676E9BD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367" y="253316"/>
            <a:ext cx="811019" cy="503578"/>
          </a:xfrm>
        </p:spPr>
        <p:txBody>
          <a:bodyPr/>
          <a:lstStyle/>
          <a:p>
            <a:fld id="{B6E74EE0-3163-42B5-81F1-819033D53CB5}" type="slidenum">
              <a:rPr lang="en-AE" smtClean="0"/>
              <a:t>50</a:t>
            </a:fld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9421307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12D6-5E89-D884-2A2A-5C56D4DE2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Mixed mode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E3455-3EA5-90E0-10D0-129EA6930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When one operand is real &amp; other is integer</a:t>
            </a:r>
          </a:p>
          <a:p>
            <a:pPr>
              <a:buNone/>
            </a:pPr>
            <a:r>
              <a:rPr lang="en-IN" dirty="0"/>
              <a:t>		Eg:     </a:t>
            </a:r>
            <a:r>
              <a:rPr lang="en-IN" dirty="0">
                <a:solidFill>
                  <a:srgbClr val="FFC000"/>
                </a:solidFill>
              </a:rPr>
              <a:t>15 / 10.0 = 1.5</a:t>
            </a:r>
          </a:p>
          <a:p>
            <a:pPr>
              <a:buNone/>
            </a:pPr>
            <a:r>
              <a:rPr lang="en-IN" dirty="0"/>
              <a:t>	where as, </a:t>
            </a:r>
          </a:p>
          <a:p>
            <a:pPr>
              <a:buNone/>
            </a:pPr>
            <a:r>
              <a:rPr lang="en-IN" dirty="0"/>
              <a:t>			</a:t>
            </a:r>
            <a:r>
              <a:rPr lang="en-IN" dirty="0">
                <a:solidFill>
                  <a:srgbClr val="FFC000"/>
                </a:solidFill>
              </a:rPr>
              <a:t>15 / 10 = 1</a:t>
            </a:r>
          </a:p>
          <a:p>
            <a:r>
              <a:rPr lang="en-IN" dirty="0"/>
              <a:t>If either operand is of real type, then only the real operation is performed and the result is always a real number.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AD88-4FE4-DCC7-BF25-BE1B74588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51</a:t>
            </a:fld>
            <a:endParaRPr lang="en-A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77CCA1-117F-AE81-029B-ACA82D8C4EB3}"/>
              </a:ext>
            </a:extLst>
          </p:cNvPr>
          <p:cNvSpPr txBox="1"/>
          <p:nvPr/>
        </p:nvSpPr>
        <p:spPr>
          <a:xfrm>
            <a:off x="1291079" y="4981992"/>
            <a:ext cx="103537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FFC000"/>
                </a:solidFill>
              </a:rPr>
              <a:t>In division, if any operand is real, the result is real; if both are integers, the result is integer.</a:t>
            </a:r>
            <a:endParaRPr lang="en-AE" sz="20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1194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C985-FB2D-BFBA-DAB7-C30F884C6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005" y="132490"/>
            <a:ext cx="9291215" cy="1049235"/>
          </a:xfrm>
        </p:spPr>
        <p:txBody>
          <a:bodyPr/>
          <a:lstStyle/>
          <a:p>
            <a:r>
              <a:rPr lang="en-IN" dirty="0"/>
              <a:t>Relational operators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7A58F-6A7E-F47F-B4A6-CD9CE83D6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046602"/>
            <a:ext cx="9873761" cy="5210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		&lt;      	is less than</a:t>
            </a:r>
          </a:p>
          <a:p>
            <a:pPr marL="0" indent="0">
              <a:buNone/>
            </a:pPr>
            <a:r>
              <a:rPr lang="en-GB" dirty="0"/>
              <a:t>		&lt;=	is less than or equal to</a:t>
            </a:r>
          </a:p>
          <a:p>
            <a:pPr marL="0" indent="0">
              <a:buNone/>
            </a:pPr>
            <a:r>
              <a:rPr lang="en-GB" dirty="0"/>
              <a:t>		&gt; 	is greater than</a:t>
            </a:r>
          </a:p>
          <a:p>
            <a:pPr marL="0" indent="0">
              <a:buNone/>
            </a:pPr>
            <a:r>
              <a:rPr lang="en-GB" dirty="0"/>
              <a:t>		&gt;=	is greater than or equal to </a:t>
            </a:r>
          </a:p>
          <a:p>
            <a:pPr marL="0" indent="0">
              <a:buNone/>
            </a:pPr>
            <a:r>
              <a:rPr lang="en-GB" dirty="0"/>
              <a:t>		==	is equal to</a:t>
            </a:r>
          </a:p>
          <a:p>
            <a:pPr marL="0" indent="0">
              <a:buNone/>
            </a:pPr>
            <a:r>
              <a:rPr lang="en-GB" dirty="0"/>
              <a:t>		!=	is not equal to</a:t>
            </a:r>
          </a:p>
          <a:p>
            <a:pPr marL="0" indent="0">
              <a:buNone/>
            </a:pPr>
            <a:r>
              <a:rPr lang="en-GB" dirty="0"/>
              <a:t>These operators' ca be used to represent logical expressions, represent conditions that are true or false(1 or 0 resp.).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FFC000"/>
                </a:solidFill>
              </a:rPr>
              <a:t>i</a:t>
            </a:r>
            <a:r>
              <a:rPr lang="en-GB" dirty="0">
                <a:solidFill>
                  <a:srgbClr val="FFC000"/>
                </a:solidFill>
              </a:rPr>
              <a:t>=1 and j=2,  </a:t>
            </a:r>
          </a:p>
          <a:p>
            <a:pPr marL="0" indent="0">
              <a:buNone/>
            </a:pPr>
            <a:r>
              <a:rPr lang="en-GB" dirty="0">
                <a:solidFill>
                  <a:srgbClr val="FFC000"/>
                </a:solidFill>
              </a:rPr>
              <a:t>		then expression  </a:t>
            </a:r>
            <a:r>
              <a:rPr lang="en-GB" dirty="0" err="1">
                <a:solidFill>
                  <a:srgbClr val="FFC000"/>
                </a:solidFill>
              </a:rPr>
              <a:t>i</a:t>
            </a:r>
            <a:r>
              <a:rPr lang="en-GB" dirty="0">
                <a:solidFill>
                  <a:srgbClr val="FFC000"/>
                </a:solidFill>
              </a:rPr>
              <a:t>&lt; j </a:t>
            </a:r>
            <a:r>
              <a:rPr lang="en-GB" dirty="0">
                <a:solidFill>
                  <a:srgbClr val="FFC000"/>
                </a:solidFill>
                <a:sym typeface="Wingdings" panose="05000000000000000000" pitchFamily="2" charset="2"/>
              </a:rPr>
              <a:t></a:t>
            </a:r>
            <a:r>
              <a:rPr lang="en-GB" dirty="0">
                <a:solidFill>
                  <a:srgbClr val="FFC000"/>
                </a:solidFill>
              </a:rPr>
              <a:t>  TRUE or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C1A3E-F051-C7C5-301B-E6E5F8AFC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52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07735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655-D005-35E5-C8EC-00707236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operators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0D843-A7EE-E050-A186-6738CBDE5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005963" cy="403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Assignment operators are used to assign the result of an expression to a variable.</a:t>
            </a:r>
          </a:p>
          <a:p>
            <a:pPr marL="0" indent="0">
              <a:buNone/>
            </a:pPr>
            <a:r>
              <a:rPr lang="en-GB" dirty="0"/>
              <a:t>Assignment operator is ‘ = ‘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is the difference between  ‘=‘ and ‘= =‘ operators?</a:t>
            </a:r>
          </a:p>
          <a:p>
            <a:pPr marL="0" indent="0">
              <a:buNone/>
            </a:pPr>
            <a:r>
              <a:rPr lang="en-GB" dirty="0"/>
              <a:t> Eg: 	   </a:t>
            </a:r>
            <a:r>
              <a:rPr lang="en-GB" dirty="0" err="1"/>
              <a:t>i</a:t>
            </a:r>
            <a:r>
              <a:rPr lang="en-GB" dirty="0"/>
              <a:t> = 5;</a:t>
            </a:r>
          </a:p>
          <a:p>
            <a:pPr marL="0" indent="0">
              <a:buNone/>
            </a:pPr>
            <a:r>
              <a:rPr lang="en-GB" dirty="0"/>
              <a:t>		   </a:t>
            </a:r>
            <a:r>
              <a:rPr lang="en-GB" dirty="0" err="1"/>
              <a:t>i</a:t>
            </a:r>
            <a:r>
              <a:rPr lang="en-GB" dirty="0"/>
              <a:t> = j = 5.9;</a:t>
            </a:r>
          </a:p>
          <a:p>
            <a:pPr marL="0" indent="0">
              <a:buNone/>
            </a:pPr>
            <a:r>
              <a:rPr lang="en-GB" dirty="0"/>
              <a:t>		if (</a:t>
            </a:r>
            <a:r>
              <a:rPr lang="en-GB" dirty="0" err="1"/>
              <a:t>i</a:t>
            </a:r>
            <a:r>
              <a:rPr lang="en-GB" dirty="0"/>
              <a:t> == 5)</a:t>
            </a:r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9C3A0-3631-DFE8-2ADA-BE120080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53</a:t>
            </a:fld>
            <a:endParaRPr lang="en-A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193E1-5551-9C7C-73EC-8C210446689B}"/>
              </a:ext>
            </a:extLst>
          </p:cNvPr>
          <p:cNvSpPr txBox="1"/>
          <p:nvPr/>
        </p:nvSpPr>
        <p:spPr>
          <a:xfrm>
            <a:off x="3907315" y="3275808"/>
            <a:ext cx="3581400" cy="46166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/>
              <a:t>identifier = expression</a:t>
            </a:r>
          </a:p>
        </p:txBody>
      </p:sp>
    </p:spTree>
    <p:extLst>
      <p:ext uri="{BB962C8B-B14F-4D97-AF65-F5344CB8AC3E}">
        <p14:creationId xmlns:p14="http://schemas.microsoft.com/office/powerpoint/2010/main" val="12859708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D18C-0C06-4304-D68E-AF607EF0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Short Hand Assignment Operators</a:t>
            </a:r>
            <a:br>
              <a:rPr lang="en-IN" dirty="0"/>
            </a:br>
            <a:r>
              <a:rPr lang="en-IN" dirty="0">
                <a:solidFill>
                  <a:srgbClr val="FFFF00"/>
                </a:solidFill>
              </a:rPr>
              <a:t>+=, -=, *=, /=, %=</a:t>
            </a:r>
            <a:endParaRPr lang="en-AE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54F92-6343-1EB2-CA5E-8FAA8B87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D76C6-69FD-932A-F6D8-8C5B4B06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54</a:t>
            </a:fld>
            <a:endParaRPr lang="en-AE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AE0566B-5C67-D053-C02F-567419A47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6296" y="2015732"/>
            <a:ext cx="6981825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436249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86FC-859B-D4E3-5568-08F09445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Operators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59B1E-CD08-DF89-41E4-9707571B2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		</a:t>
            </a:r>
            <a:r>
              <a:rPr lang="en-GB" dirty="0">
                <a:solidFill>
                  <a:srgbClr val="FFFF00"/>
                </a:solidFill>
              </a:rPr>
              <a:t>&amp;&amp; 	logical AND</a:t>
            </a:r>
          </a:p>
          <a:p>
            <a:pPr marL="0" indent="0">
              <a:buNone/>
            </a:pPr>
            <a:r>
              <a:rPr lang="en-GB" dirty="0">
                <a:solidFill>
                  <a:srgbClr val="FFFF00"/>
                </a:solidFill>
              </a:rPr>
              <a:t>		||	logical OR</a:t>
            </a:r>
          </a:p>
          <a:p>
            <a:pPr marL="0" indent="0">
              <a:buNone/>
            </a:pPr>
            <a:r>
              <a:rPr lang="en-GB" dirty="0">
                <a:solidFill>
                  <a:srgbClr val="FFFF00"/>
                </a:solidFill>
              </a:rPr>
              <a:t>		!	logical NOT</a:t>
            </a:r>
          </a:p>
          <a:p>
            <a:pPr marL="0" indent="0">
              <a:buNone/>
            </a:pPr>
            <a:r>
              <a:rPr lang="en-GB" dirty="0"/>
              <a:t>Logical Operators are used when we want to test more than one condition and make decisions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93E71-D62F-5850-216C-C87F5038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55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048870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32E92-49F5-5E1B-45C4-527FC47A0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Operators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80BEC-4EE8-3653-83AE-04E491D07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9A6AA-2433-66F0-EA27-030AA1AC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56</a:t>
            </a:fld>
            <a:endParaRPr lang="en-A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AFC541-B3C9-6402-C952-EF79C9F85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749825"/>
              </p:ext>
            </p:extLst>
          </p:nvPr>
        </p:nvGraphicFramePr>
        <p:xfrm>
          <a:off x="3188465" y="2369438"/>
          <a:ext cx="6477000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OP1 &amp;&amp; OP2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OP1 || OP2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!OP1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332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0F04E-F3BB-6E14-01B7-C4B9E5F57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827" y="253388"/>
            <a:ext cx="11259238" cy="584995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400" dirty="0"/>
              <a:t>if  x=7, f=5.2, c=‘w’</a:t>
            </a:r>
          </a:p>
          <a:p>
            <a:pPr marL="0" indent="0">
              <a:buNone/>
            </a:pPr>
            <a:r>
              <a:rPr lang="en-GB" sz="2400" dirty="0"/>
              <a:t>x&gt;=6  &amp;&amp; c==‘w’   		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FF00"/>
                </a:solidFill>
              </a:rPr>
              <a:t>TRUE</a:t>
            </a:r>
          </a:p>
          <a:p>
            <a:pPr marL="0" indent="0">
              <a:buNone/>
            </a:pPr>
            <a:r>
              <a:rPr lang="en-GB" sz="2400" dirty="0"/>
              <a:t>			f&lt;11  &amp;&amp;  x&gt;100		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FF00"/>
                </a:solidFill>
              </a:rPr>
              <a:t>			FALSE	</a:t>
            </a:r>
            <a:r>
              <a:rPr lang="en-GB" sz="2400" dirty="0"/>
              <a:t>	</a:t>
            </a:r>
          </a:p>
          <a:p>
            <a:pPr marL="0" indent="0">
              <a:buNone/>
            </a:pPr>
            <a:r>
              <a:rPr lang="en-GB" sz="2400" dirty="0"/>
              <a:t>						c!=‘p’ || (</a:t>
            </a:r>
            <a:r>
              <a:rPr lang="en-GB" sz="2400" dirty="0" err="1"/>
              <a:t>x+f</a:t>
            </a:r>
            <a:r>
              <a:rPr lang="en-GB" sz="2400" dirty="0"/>
              <a:t>) &lt;=10  	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FF00"/>
                </a:solidFill>
              </a:rPr>
              <a:t>						TRUE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Eg: If a=5 ,b=5</a:t>
            </a:r>
          </a:p>
          <a:p>
            <a:pPr marL="0" indent="0">
              <a:buNone/>
            </a:pPr>
            <a:r>
              <a:rPr lang="en-GB" sz="2400" dirty="0"/>
              <a:t>!(a != b) 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FF00"/>
                </a:solidFill>
              </a:rPr>
              <a:t>evaluates to 1 because operand (a != b) is 0 (false). Hence, !(a != b) is 1 (true).</a:t>
            </a:r>
          </a:p>
          <a:p>
            <a:pPr marL="0" indent="0">
              <a:buNone/>
            </a:pPr>
            <a:r>
              <a:rPr lang="en-GB" sz="2400" dirty="0"/>
              <a:t>!(a == b) 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FF00"/>
                </a:solidFill>
              </a:rPr>
              <a:t>evaluates to 0 because (a == b) is 1 (true). Hence, !(a == b) is 0 (false).</a:t>
            </a:r>
          </a:p>
        </p:txBody>
      </p:sp>
    </p:spTree>
    <p:extLst>
      <p:ext uri="{BB962C8B-B14F-4D97-AF65-F5344CB8AC3E}">
        <p14:creationId xmlns:p14="http://schemas.microsoft.com/office/powerpoint/2010/main" val="327328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3E60E-0F05-F642-0A4A-CEF11093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1" y="143877"/>
            <a:ext cx="9293577" cy="1059305"/>
          </a:xfrm>
        </p:spPr>
        <p:txBody>
          <a:bodyPr/>
          <a:lstStyle/>
          <a:p>
            <a:r>
              <a:rPr lang="en-IN" dirty="0"/>
              <a:t>Unary Operators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2BE45-A4BD-F60E-9221-48D1E1A73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644" y="1349866"/>
            <a:ext cx="3300939" cy="3448595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rgbClr val="FFFF00"/>
                </a:solidFill>
              </a:rPr>
              <a:t>Unary Minus (-)</a:t>
            </a:r>
          </a:p>
          <a:p>
            <a:pPr marL="0" indent="0">
              <a:buNone/>
            </a:pPr>
            <a:r>
              <a:rPr lang="en-GB" dirty="0"/>
              <a:t>int a = 5;</a:t>
            </a:r>
          </a:p>
          <a:p>
            <a:pPr marL="0" indent="0">
              <a:buNone/>
            </a:pPr>
            <a:r>
              <a:rPr lang="en-GB" dirty="0"/>
              <a:t>int b;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 = -a;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BBA601-4E99-BDA7-7EC3-D3D04A8AE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55055" y="1203182"/>
            <a:ext cx="7755875" cy="4569657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Increment/decrement operator</a:t>
            </a:r>
            <a:r>
              <a:rPr lang="en-IN" sz="2400" dirty="0">
                <a:solidFill>
                  <a:srgbClr val="FFFF00"/>
                </a:solidFill>
              </a:rPr>
              <a:t>(++/--)</a:t>
            </a:r>
          </a:p>
          <a:p>
            <a:pPr lvl="1"/>
            <a:r>
              <a:rPr lang="en-IN" sz="2000" dirty="0"/>
              <a:t>Increments or decrements the operand by 1</a:t>
            </a:r>
          </a:p>
          <a:p>
            <a:pPr lvl="1"/>
            <a:r>
              <a:rPr lang="nn-NO" sz="2000" dirty="0"/>
              <a:t>Eg: x=5 , ++x =6 and  x ++ = 6</a:t>
            </a:r>
          </a:p>
          <a:p>
            <a:endParaRPr lang="en-IN" dirty="0"/>
          </a:p>
          <a:p>
            <a:r>
              <a:rPr lang="en-IN" dirty="0"/>
              <a:t>While  ++x and x++ means the same, when they form statements independently they  behave differently</a:t>
            </a:r>
          </a:p>
          <a:p>
            <a:r>
              <a:rPr lang="en-IN" dirty="0"/>
              <a:t>Eg: x=5</a:t>
            </a:r>
          </a:p>
          <a:p>
            <a:pPr>
              <a:buNone/>
            </a:pPr>
            <a:r>
              <a:rPr lang="en-IN" dirty="0"/>
              <a:t>		y=x++       y=5, x=6</a:t>
            </a:r>
          </a:p>
          <a:p>
            <a:pPr>
              <a:buNone/>
            </a:pPr>
            <a:r>
              <a:rPr lang="en-IN" dirty="0"/>
              <a:t>		y=++x       y=6, x=6</a:t>
            </a:r>
          </a:p>
        </p:txBody>
      </p:sp>
    </p:spTree>
    <p:extLst>
      <p:ext uri="{BB962C8B-B14F-4D97-AF65-F5344CB8AC3E}">
        <p14:creationId xmlns:p14="http://schemas.microsoft.com/office/powerpoint/2010/main" val="27376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84743D4-5513-7A5C-098E-431A43DF1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440676"/>
            <a:ext cx="9291215" cy="5025670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++x </a:t>
            </a:r>
            <a:r>
              <a:rPr lang="en-IN" sz="2400" b="1" dirty="0">
                <a:solidFill>
                  <a:srgbClr val="FFFF00"/>
                </a:solidFill>
                <a:sym typeface="Wingdings" pitchFamily="2" charset="2"/>
              </a:rPr>
              <a:t></a:t>
            </a:r>
            <a:r>
              <a:rPr lang="en-IN" sz="2400" b="1" dirty="0">
                <a:solidFill>
                  <a:srgbClr val="FFFF00"/>
                </a:solidFill>
              </a:rPr>
              <a:t> pre-increment operator or prefix operator</a:t>
            </a:r>
          </a:p>
          <a:p>
            <a:pPr lvl="1"/>
            <a:r>
              <a:rPr lang="en-IN" sz="2000" dirty="0"/>
              <a:t>First increments 1 to the operand and result is assigned to the variable on the left</a:t>
            </a:r>
          </a:p>
          <a:p>
            <a:pPr lvl="1"/>
            <a:r>
              <a:rPr lang="en-IN" sz="2000" dirty="0"/>
              <a:t>When pre-increment operator is used, variable incremented first and then expression is evaluated using new value of the variable</a:t>
            </a:r>
          </a:p>
          <a:p>
            <a:r>
              <a:rPr lang="en-IN" sz="2400" b="1" dirty="0">
                <a:solidFill>
                  <a:srgbClr val="FFFF00"/>
                </a:solidFill>
              </a:rPr>
              <a:t>x++ </a:t>
            </a:r>
            <a:r>
              <a:rPr lang="en-IN" sz="2400" b="1" dirty="0">
                <a:solidFill>
                  <a:srgbClr val="FFFF00"/>
                </a:solidFill>
                <a:sym typeface="Wingdings" pitchFamily="2" charset="2"/>
              </a:rPr>
              <a:t></a:t>
            </a:r>
            <a:r>
              <a:rPr lang="en-IN" sz="2400" b="1" dirty="0">
                <a:solidFill>
                  <a:srgbClr val="FFFF00"/>
                </a:solidFill>
              </a:rPr>
              <a:t> post-increment operator or postfix operator</a:t>
            </a:r>
          </a:p>
          <a:p>
            <a:pPr lvl="1"/>
            <a:r>
              <a:rPr lang="en-IN" sz="2000" dirty="0"/>
              <a:t>Expression is evaluated first using the original value of the variable and then variable is incremented</a:t>
            </a:r>
          </a:p>
          <a:p>
            <a:endParaRPr lang="en-IN" sz="2400" dirty="0"/>
          </a:p>
          <a:p>
            <a:r>
              <a:rPr lang="en-IN" sz="2400" dirty="0"/>
              <a:t>Similarly pre-decrement and post-decrement</a:t>
            </a:r>
          </a:p>
          <a:p>
            <a:endParaRPr lang="en-AE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E0D97-CA62-B5AA-705C-32E5C2CB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59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7074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917828" cy="1049235"/>
          </a:xfrm>
        </p:spPr>
        <p:txBody>
          <a:bodyPr>
            <a:normAutofit/>
          </a:bodyPr>
          <a:lstStyle/>
          <a:p>
            <a:r>
              <a:rPr lang="en-IN" b="1" dirty="0"/>
              <a:t>Increment/decrement operator</a:t>
            </a:r>
            <a:r>
              <a:rPr lang="en-IN" dirty="0"/>
              <a:t>(++/--)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Eg</a:t>
            </a:r>
            <a:r>
              <a:rPr lang="en-IN" dirty="0"/>
              <a:t>: a=10, b=20</a:t>
            </a:r>
          </a:p>
          <a:p>
            <a:r>
              <a:rPr lang="en-IN" dirty="0"/>
              <a:t>Find values of x and y after the expressions are evaluated</a:t>
            </a:r>
          </a:p>
          <a:p>
            <a:pPr>
              <a:buNone/>
            </a:pPr>
            <a:r>
              <a:rPr lang="en-IN" dirty="0"/>
              <a:t> 	x=50 + ++a;</a:t>
            </a:r>
          </a:p>
          <a:p>
            <a:pPr>
              <a:buNone/>
            </a:pPr>
            <a:r>
              <a:rPr lang="en-IN" dirty="0"/>
              <a:t>	x=____    	a=____</a:t>
            </a:r>
          </a:p>
          <a:p>
            <a:pPr>
              <a:buNone/>
            </a:pPr>
            <a:r>
              <a:rPr lang="en-IN" dirty="0"/>
              <a:t>	y=100 + b++</a:t>
            </a:r>
          </a:p>
          <a:p>
            <a:pPr>
              <a:buNone/>
            </a:pPr>
            <a:r>
              <a:rPr lang="en-IN" dirty="0"/>
              <a:t>	y=____	b=____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181044" y="3429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7495" y="3429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6086" y="4447672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3584" y="4447672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87D1C-9F35-A8C0-A433-76B4D426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Operator- </a:t>
            </a:r>
            <a:br>
              <a:rPr lang="en-IN" dirty="0"/>
            </a:br>
            <a:r>
              <a:rPr lang="en-IN" dirty="0">
                <a:solidFill>
                  <a:srgbClr val="FFFF00"/>
                </a:solidFill>
              </a:rPr>
              <a:t>Ternary Operator</a:t>
            </a:r>
            <a:endParaRPr lang="en-AE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1C8B2-64DE-CECD-EA9D-111C36220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Syntax:      </a:t>
            </a:r>
            <a:r>
              <a:rPr lang="en-IN" dirty="0">
                <a:solidFill>
                  <a:srgbClr val="FFFF00"/>
                </a:solidFill>
              </a:rPr>
              <a:t>exp1 </a:t>
            </a:r>
            <a:r>
              <a:rPr lang="en-IN" dirty="0"/>
              <a:t>?  </a:t>
            </a:r>
            <a:r>
              <a:rPr lang="en-IN" dirty="0">
                <a:solidFill>
                  <a:srgbClr val="FFC000"/>
                </a:solidFill>
              </a:rPr>
              <a:t>exp2</a:t>
            </a:r>
            <a:r>
              <a:rPr lang="en-IN" dirty="0">
                <a:solidFill>
                  <a:srgbClr val="0070C0"/>
                </a:solidFill>
              </a:rPr>
              <a:t> </a:t>
            </a:r>
            <a:r>
              <a:rPr lang="en-IN" dirty="0"/>
              <a:t>: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exp3</a:t>
            </a:r>
          </a:p>
          <a:p>
            <a:pPr>
              <a:buNone/>
            </a:pPr>
            <a:r>
              <a:rPr lang="en-IN" dirty="0"/>
              <a:t>	where exp1,2,3  are expressions</a:t>
            </a:r>
          </a:p>
          <a:p>
            <a:pPr>
              <a:buNone/>
            </a:pPr>
            <a:r>
              <a:rPr lang="en-IN" dirty="0"/>
              <a:t> 	Eg: a=10;b=15;</a:t>
            </a:r>
          </a:p>
          <a:p>
            <a:pPr>
              <a:buNone/>
            </a:pPr>
            <a:r>
              <a:rPr lang="en-IN" dirty="0"/>
              <a:t>	      x=(a&gt;b)?</a:t>
            </a:r>
            <a:r>
              <a:rPr lang="en-IN" dirty="0" err="1"/>
              <a:t>a:b</a:t>
            </a:r>
            <a:r>
              <a:rPr lang="en-IN" dirty="0"/>
              <a:t>      (Ans. Since the condition is false the result will be “b”)</a:t>
            </a:r>
          </a:p>
          <a:p>
            <a:r>
              <a:rPr lang="en-IN" dirty="0"/>
              <a:t>Similar to  </a:t>
            </a:r>
            <a:r>
              <a:rPr lang="en-IN" b="1" dirty="0"/>
              <a:t>if…else</a:t>
            </a:r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B237E-F347-196D-05CF-2AE78CBA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61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641437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7225-5841-38CD-3582-727A3A336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52BD2-D532-0293-6469-0220B8394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&amp;	Bitwise AND</a:t>
            </a:r>
          </a:p>
          <a:p>
            <a:pPr marL="0" indent="0">
              <a:buNone/>
            </a:pPr>
            <a:r>
              <a:rPr lang="en-IN" dirty="0"/>
              <a:t>|	Bitwise OR</a:t>
            </a:r>
          </a:p>
          <a:p>
            <a:pPr marL="0" indent="0">
              <a:buNone/>
            </a:pPr>
            <a:r>
              <a:rPr lang="en-IN" dirty="0"/>
              <a:t>^	Bitwise exclusive OR</a:t>
            </a:r>
          </a:p>
          <a:p>
            <a:pPr marL="0" indent="0">
              <a:buNone/>
            </a:pPr>
            <a:r>
              <a:rPr lang="en-IN" dirty="0"/>
              <a:t>&lt;&lt;	Shift left</a:t>
            </a:r>
          </a:p>
          <a:p>
            <a:pPr marL="0" indent="0">
              <a:buNone/>
            </a:pPr>
            <a:r>
              <a:rPr lang="en-IN" dirty="0"/>
              <a:t>&gt;&gt;	Shift right</a:t>
            </a:r>
          </a:p>
          <a:p>
            <a:pPr marL="0" indent="0">
              <a:buNone/>
            </a:pPr>
            <a:r>
              <a:rPr lang="en-IN" dirty="0"/>
              <a:t>~	</a:t>
            </a:r>
            <a:r>
              <a:rPr lang="en-GB" dirty="0"/>
              <a:t>Bitwise complement operator</a:t>
            </a:r>
            <a:endParaRPr lang="en-IN" dirty="0"/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53CC5-98FF-C087-03B6-89CFFBFC0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62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316092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5D3B-D65C-465C-1734-EE03AAEBF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54523"/>
            <a:ext cx="9291215" cy="1049235"/>
          </a:xfrm>
        </p:spPr>
        <p:txBody>
          <a:bodyPr/>
          <a:lstStyle/>
          <a:p>
            <a:r>
              <a:rPr lang="en-GB" dirty="0"/>
              <a:t>Bitwise complement operator (~)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5E32-3F52-F2DF-3BF0-803D84FE1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101688"/>
            <a:ext cx="10215284" cy="4951794"/>
          </a:xfrm>
        </p:spPr>
        <p:txBody>
          <a:bodyPr>
            <a:normAutofit/>
          </a:bodyPr>
          <a:lstStyle/>
          <a:p>
            <a:r>
              <a:rPr lang="en-GB" dirty="0"/>
              <a:t>The bitwise complement operator is also known as one's complement operator. </a:t>
            </a:r>
          </a:p>
          <a:p>
            <a:r>
              <a:rPr lang="en-GB" dirty="0"/>
              <a:t>It is represented by the symbol tilde (~). </a:t>
            </a:r>
          </a:p>
          <a:p>
            <a:r>
              <a:rPr lang="en-GB" dirty="0"/>
              <a:t>It takes only one operand or variable and performs complement operation on an operand. </a:t>
            </a:r>
          </a:p>
          <a:p>
            <a:r>
              <a:rPr lang="en-GB" dirty="0"/>
              <a:t>When we apply the complement operation on any bits, then 0 becomes 1 and 1 becomes 0. </a:t>
            </a:r>
          </a:p>
          <a:p>
            <a:pPr marL="0" indent="0">
              <a:buNone/>
            </a:pPr>
            <a:r>
              <a:rPr lang="en-GB" dirty="0">
                <a:solidFill>
                  <a:srgbClr val="FFFF00"/>
                </a:solidFill>
              </a:rPr>
              <a:t>If we have a variable named 'a', a = 8; </a:t>
            </a:r>
          </a:p>
          <a:p>
            <a:pPr marL="0" indent="0">
              <a:buNone/>
            </a:pPr>
            <a:r>
              <a:rPr lang="en-GB" dirty="0">
                <a:solidFill>
                  <a:srgbClr val="FFFF00"/>
                </a:solidFill>
              </a:rPr>
              <a:t>The binary representation a = 1000 </a:t>
            </a:r>
          </a:p>
          <a:p>
            <a:pPr marL="0" indent="0">
              <a:buNone/>
            </a:pPr>
            <a:r>
              <a:rPr lang="en-GB" dirty="0">
                <a:solidFill>
                  <a:srgbClr val="FFFF00"/>
                </a:solidFill>
              </a:rPr>
              <a:t> When we apply the bitwise complement operator to the operand, then </a:t>
            </a:r>
          </a:p>
          <a:p>
            <a:pPr marL="0" indent="0">
              <a:buNone/>
            </a:pPr>
            <a:r>
              <a:rPr lang="en-GB" dirty="0">
                <a:solidFill>
                  <a:srgbClr val="FFFF00"/>
                </a:solidFill>
              </a:rPr>
              <a:t>	Result = 0111 </a:t>
            </a:r>
            <a:endParaRPr lang="en-AE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9590B-7F72-6605-AACD-2187A51B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63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405120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E2B8-2895-DFCB-F750-C235D0CAD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9EBD8-0FA8-9AFE-9C50-8BAC7981C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7A565-A6CB-0E56-3049-51773EB0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64</a:t>
            </a:fld>
            <a:endParaRPr lang="en-AE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B2F5FC1-3E00-06AD-3776-72C80A34C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7584" y="542459"/>
            <a:ext cx="3787967" cy="2633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B87283AA-D837-2FC3-0B12-7850A90CD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4198" y="447991"/>
            <a:ext cx="4075102" cy="256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19C8E8E3-66C2-0157-24F6-3E938DF3D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10392" y="3843681"/>
            <a:ext cx="4688691" cy="2841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773593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08E78-038C-1252-90E2-29306FBB8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Right Shift Operator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2D53A-AF91-E2DA-BF38-71D0B205F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Right shift operator shifts all bits towards right by certain number of specified bits. </a:t>
            </a:r>
          </a:p>
          <a:p>
            <a:r>
              <a:rPr lang="en-IN" dirty="0"/>
              <a:t>It is denoted by &gt;&gt;.</a:t>
            </a:r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15067-585D-9272-3530-E6CC1C41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65</a:t>
            </a:fld>
            <a:endParaRPr lang="en-AE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5849C20E-FDB6-93E7-515F-0D306D2EE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87327" y="3823771"/>
            <a:ext cx="5592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65634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232E7-64C2-560A-209C-5AF290A1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Left Shift Operator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BFAF2-F93A-C9AA-276F-5A9B2CE29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dirty="0"/>
              <a:t>Left shift operator shifts all bits towards left by certain number of specified bits. </a:t>
            </a:r>
          </a:p>
          <a:p>
            <a:pPr fontAlgn="base"/>
            <a:r>
              <a:rPr lang="en-IN" dirty="0"/>
              <a:t>It is denoted by &lt;&lt;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78540-27C9-A5BA-D9DE-C979BBB72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66</a:t>
            </a:fld>
            <a:endParaRPr lang="en-AE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50337409-A8BA-7105-9053-E2A90690F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6762" y="4332923"/>
            <a:ext cx="6120104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730166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1CCF-7768-62BB-4B24-2A358D542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6270" y="561860"/>
            <a:ext cx="6191479" cy="489761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dirty="0"/>
              <a:t>// C Program to demonstrate use of bitwise operators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>
              <a:buNone/>
            </a:pPr>
            <a:r>
              <a:rPr lang="en-IN" dirty="0"/>
              <a:t>int main()</a:t>
            </a:r>
          </a:p>
          <a:p>
            <a:pPr>
              <a:buNone/>
            </a:pPr>
            <a:r>
              <a:rPr lang="en-IN" dirty="0"/>
              <a:t>{</a:t>
            </a:r>
          </a:p>
          <a:p>
            <a:pPr>
              <a:buNone/>
            </a:pPr>
            <a:r>
              <a:rPr lang="en-IN" dirty="0"/>
              <a:t>	// a = 5(00000101), b = 9(00001001)</a:t>
            </a:r>
          </a:p>
          <a:p>
            <a:pPr>
              <a:buNone/>
            </a:pPr>
            <a:r>
              <a:rPr lang="en-IN" dirty="0"/>
              <a:t>	int a = 5, b = 9;</a:t>
            </a:r>
          </a:p>
          <a:p>
            <a:pPr>
              <a:buNone/>
            </a:pPr>
            <a:r>
              <a:rPr lang="en-IN" dirty="0"/>
              <a:t>	// The result is 00000001</a:t>
            </a:r>
          </a:p>
          <a:p>
            <a:pPr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("a = %d, b = %d\n", a, b);</a:t>
            </a:r>
          </a:p>
          <a:p>
            <a:pPr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</a:t>
            </a:r>
            <a:r>
              <a:rPr lang="en-IN" dirty="0" err="1"/>
              <a:t>a&amp;b</a:t>
            </a:r>
            <a:r>
              <a:rPr lang="en-IN" dirty="0"/>
              <a:t> = %d\n", a &amp; b);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31A81B-AF05-C670-2025-AD98D7B7E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7076" y="561860"/>
            <a:ext cx="4799450" cy="544294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dirty="0"/>
              <a:t>	// The result is 00001101</a:t>
            </a:r>
          </a:p>
          <a:p>
            <a:pPr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</a:t>
            </a:r>
            <a:r>
              <a:rPr lang="en-IN" dirty="0" err="1"/>
              <a:t>a|b</a:t>
            </a:r>
            <a:r>
              <a:rPr lang="en-IN" dirty="0"/>
              <a:t> = %d\n", a | b);	</a:t>
            </a:r>
          </a:p>
          <a:p>
            <a:pPr>
              <a:buNone/>
            </a:pPr>
            <a:r>
              <a:rPr lang="en-IN" dirty="0"/>
              <a:t>// The result is 00001100</a:t>
            </a:r>
          </a:p>
          <a:p>
            <a:pPr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</a:t>
            </a:r>
            <a:r>
              <a:rPr lang="en-IN" dirty="0" err="1"/>
              <a:t>a^b</a:t>
            </a:r>
            <a:r>
              <a:rPr lang="en-IN" dirty="0"/>
              <a:t> = %d\n", a ^ b);</a:t>
            </a:r>
          </a:p>
          <a:p>
            <a:pPr>
              <a:buNone/>
            </a:pPr>
            <a:r>
              <a:rPr lang="en-IN" dirty="0"/>
              <a:t>	// The result is 11111010</a:t>
            </a:r>
          </a:p>
          <a:p>
            <a:pPr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("~a = %d\n", a = ~a);</a:t>
            </a:r>
          </a:p>
          <a:p>
            <a:pPr>
              <a:buNone/>
            </a:pPr>
            <a:r>
              <a:rPr lang="en-IN" dirty="0"/>
              <a:t>	// The result is 00010010</a:t>
            </a:r>
          </a:p>
          <a:p>
            <a:pPr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("b&lt;&lt;1 = %d\n", b &lt;&lt; 1);</a:t>
            </a:r>
          </a:p>
          <a:p>
            <a:pPr>
              <a:buNone/>
            </a:pPr>
            <a:r>
              <a:rPr lang="en-IN" dirty="0"/>
              <a:t>	// The result is 00000100</a:t>
            </a:r>
          </a:p>
          <a:p>
            <a:pPr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("b&gt;&gt;1 = %d\n", b &gt;&gt; 1);</a:t>
            </a:r>
          </a:p>
          <a:p>
            <a:pPr>
              <a:buNone/>
            </a:pPr>
            <a:r>
              <a:rPr lang="en-IN" dirty="0"/>
              <a:t>	return 0; </a:t>
            </a:r>
          </a:p>
          <a:p>
            <a:pPr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568591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9C463B-6B2C-9C0C-1CB5-C33C371B5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63936"/>
            <a:ext cx="9291215" cy="1049235"/>
          </a:xfrm>
        </p:spPr>
        <p:txBody>
          <a:bodyPr/>
          <a:lstStyle/>
          <a:p>
            <a:r>
              <a:rPr lang="en-IN" dirty="0" err="1"/>
              <a:t>sizeof</a:t>
            </a:r>
            <a:r>
              <a:rPr lang="en-IN" dirty="0"/>
              <a:t> Operator</a:t>
            </a:r>
            <a:endParaRPr lang="en-A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DC7E3C-6F7B-6A85-AED8-899866AF1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112704"/>
            <a:ext cx="10260361" cy="5056742"/>
          </a:xfrm>
        </p:spPr>
        <p:txBody>
          <a:bodyPr>
            <a:normAutofit/>
          </a:bodyPr>
          <a:lstStyle/>
          <a:p>
            <a:r>
              <a:rPr lang="en-IN" dirty="0" err="1"/>
              <a:t>sizeof</a:t>
            </a:r>
            <a:r>
              <a:rPr lang="en-IN" dirty="0"/>
              <a:t> is an operator which returns the </a:t>
            </a:r>
            <a:r>
              <a:rPr lang="en-IN" dirty="0">
                <a:solidFill>
                  <a:srgbClr val="FFFF00"/>
                </a:solidFill>
              </a:rPr>
              <a:t>number of bytes </a:t>
            </a:r>
            <a:r>
              <a:rPr lang="en-IN" dirty="0"/>
              <a:t>occupied the operand.</a:t>
            </a:r>
          </a:p>
          <a:p>
            <a:pPr>
              <a:buNone/>
            </a:pPr>
            <a:r>
              <a:rPr lang="en-IN" dirty="0"/>
              <a:t>			</a:t>
            </a:r>
            <a:r>
              <a:rPr lang="en-IN" dirty="0" err="1">
                <a:solidFill>
                  <a:srgbClr val="FFC000"/>
                </a:solidFill>
              </a:rPr>
              <a:t>sizeof</a:t>
            </a:r>
            <a:r>
              <a:rPr lang="en-IN" dirty="0">
                <a:solidFill>
                  <a:srgbClr val="FFC000"/>
                </a:solidFill>
              </a:rPr>
              <a:t>  operand</a:t>
            </a:r>
          </a:p>
          <a:p>
            <a:r>
              <a:rPr lang="en-IN" dirty="0"/>
              <a:t> The operand may be </a:t>
            </a:r>
            <a:r>
              <a:rPr lang="en-IN" b="1" u="sng" dirty="0"/>
              <a:t>datatype, variable or constant</a:t>
            </a:r>
          </a:p>
          <a:p>
            <a:pPr>
              <a:buNone/>
            </a:pPr>
            <a:r>
              <a:rPr lang="en-GB" dirty="0">
                <a:solidFill>
                  <a:srgbClr val="FFFF00"/>
                </a:solidFill>
              </a:rPr>
              <a:t>#include&lt;stdio.h&gt;</a:t>
            </a:r>
          </a:p>
          <a:p>
            <a:pPr>
              <a:buNone/>
            </a:pPr>
            <a:r>
              <a:rPr lang="en-GB" dirty="0">
                <a:solidFill>
                  <a:srgbClr val="FFFF00"/>
                </a:solidFill>
              </a:rPr>
              <a:t>void main()</a:t>
            </a:r>
          </a:p>
          <a:p>
            <a:pPr>
              <a:buNone/>
            </a:pPr>
            <a:r>
              <a:rPr lang="en-GB" dirty="0">
                <a:solidFill>
                  <a:srgbClr val="FFFF00"/>
                </a:solidFill>
              </a:rPr>
              <a:t>{</a:t>
            </a:r>
          </a:p>
          <a:p>
            <a:pPr>
              <a:buNone/>
            </a:pPr>
            <a:r>
              <a:rPr lang="en-GB" dirty="0">
                <a:solidFill>
                  <a:srgbClr val="FFFF00"/>
                </a:solidFill>
              </a:rPr>
              <a:t>    int s;</a:t>
            </a:r>
          </a:p>
          <a:p>
            <a:pPr>
              <a:buNone/>
            </a:pPr>
            <a:r>
              <a:rPr lang="en-GB" dirty="0">
                <a:solidFill>
                  <a:srgbClr val="FFFF00"/>
                </a:solidFill>
              </a:rPr>
              <a:t>    s=</a:t>
            </a:r>
            <a:r>
              <a:rPr lang="en-GB" dirty="0" err="1">
                <a:solidFill>
                  <a:srgbClr val="FFFF00"/>
                </a:solidFill>
              </a:rPr>
              <a:t>sizeof</a:t>
            </a:r>
            <a:r>
              <a:rPr lang="en-GB" dirty="0">
                <a:solidFill>
                  <a:srgbClr val="FFFF00"/>
                </a:solidFill>
              </a:rPr>
              <a:t>(int);</a:t>
            </a:r>
          </a:p>
          <a:p>
            <a:pPr>
              <a:buNone/>
            </a:pPr>
            <a:r>
              <a:rPr lang="en-GB" dirty="0">
                <a:solidFill>
                  <a:srgbClr val="FFFF00"/>
                </a:solidFill>
              </a:rPr>
              <a:t>    </a:t>
            </a:r>
            <a:r>
              <a:rPr lang="en-GB" dirty="0" err="1">
                <a:solidFill>
                  <a:srgbClr val="FFFF00"/>
                </a:solidFill>
              </a:rPr>
              <a:t>printf</a:t>
            </a:r>
            <a:r>
              <a:rPr lang="en-GB" dirty="0">
                <a:solidFill>
                  <a:srgbClr val="FFFF00"/>
                </a:solidFill>
              </a:rPr>
              <a:t>("%</a:t>
            </a:r>
            <a:r>
              <a:rPr lang="en-GB" dirty="0" err="1">
                <a:solidFill>
                  <a:srgbClr val="FFFF00"/>
                </a:solidFill>
              </a:rPr>
              <a:t>d",s</a:t>
            </a:r>
            <a:r>
              <a:rPr lang="en-GB" dirty="0">
                <a:solidFill>
                  <a:srgbClr val="FFFF00"/>
                </a:solidFill>
              </a:rPr>
              <a:t>);</a:t>
            </a:r>
          </a:p>
          <a:p>
            <a:pPr>
              <a:buNone/>
            </a:pPr>
            <a:r>
              <a:rPr lang="en-GB" dirty="0">
                <a:solidFill>
                  <a:srgbClr val="FFFF00"/>
                </a:solidFill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48F68-7416-0DF5-EA90-B6289481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68</a:t>
            </a:fld>
            <a:endParaRPr lang="en-A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12EC48-19AA-EBC8-C25E-8A45FDFA0178}"/>
              </a:ext>
            </a:extLst>
          </p:cNvPr>
          <p:cNvSpPr/>
          <p:nvPr/>
        </p:nvSpPr>
        <p:spPr>
          <a:xfrm>
            <a:off x="7491470" y="3294043"/>
            <a:ext cx="2842352" cy="12559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</a:p>
          <a:p>
            <a:pPr algn="ctr"/>
            <a:r>
              <a:rPr lang="en-GB" dirty="0"/>
              <a:t>4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42608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D886A-9D03-73E5-BAD8-9280C599C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Precedence &amp; </a:t>
            </a:r>
            <a:r>
              <a:rPr lang="en-IN" dirty="0"/>
              <a:t>Associativity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50E82-54C5-C6C0-E7BC-F3685A0ED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10479688" cy="4120663"/>
          </a:xfrm>
        </p:spPr>
        <p:txBody>
          <a:bodyPr>
            <a:normAutofit/>
          </a:bodyPr>
          <a:lstStyle/>
          <a:p>
            <a:r>
              <a:rPr lang="en-US" dirty="0"/>
              <a:t>Operator Precedence : </a:t>
            </a:r>
            <a:r>
              <a:rPr lang="en-IN" dirty="0"/>
              <a:t>a rule used to clarify unambiguously which operations (operator and operands) should be performed first in the given (mathematical) expression.</a:t>
            </a:r>
          </a:p>
          <a:p>
            <a:r>
              <a:rPr lang="en-IN" dirty="0"/>
              <a:t>Use precedence levels that conform to the order commonly used in </a:t>
            </a:r>
            <a:r>
              <a:rPr lang="en-IN" b="1" dirty="0"/>
              <a:t>mathematics</a:t>
            </a:r>
            <a:r>
              <a:rPr lang="en-IN" dirty="0"/>
              <a:t>.</a:t>
            </a:r>
          </a:p>
          <a:p>
            <a:r>
              <a:rPr lang="en-IN" dirty="0"/>
              <a:t>Precedence and associativity of C operators affect the grouping and evaluation of operands in expressions.</a:t>
            </a:r>
          </a:p>
          <a:p>
            <a:pPr lvl="1"/>
            <a:r>
              <a:rPr lang="en-IN" dirty="0"/>
              <a:t>Expressions with higher-precedence operators are evaluated first.</a:t>
            </a:r>
          </a:p>
          <a:p>
            <a:pPr lvl="1"/>
            <a:r>
              <a:rPr lang="en-IN" dirty="0"/>
              <a:t>the order in which the operands are evaluated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DF91B-3E0E-E206-6315-40799D35E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69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840275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AC7CA-8317-9A44-F5B3-0DADEF201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330506"/>
            <a:ext cx="10567823" cy="513583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Operator precedence</a:t>
            </a:r>
            <a:r>
              <a:rPr lang="en-IN" b="1" dirty="0"/>
              <a:t>:</a:t>
            </a:r>
            <a:r>
              <a:rPr lang="en-IN" dirty="0"/>
              <a:t> It dictates the order of evaluation of operators in an expression.</a:t>
            </a:r>
          </a:p>
          <a:p>
            <a:r>
              <a:rPr lang="en-IN" b="1" dirty="0">
                <a:solidFill>
                  <a:srgbClr val="FFFF00"/>
                </a:solidFill>
              </a:rPr>
              <a:t>Associativity</a:t>
            </a:r>
            <a:r>
              <a:rPr lang="en-IN" b="1" dirty="0"/>
              <a:t>:</a:t>
            </a:r>
            <a:r>
              <a:rPr lang="en-IN" dirty="0"/>
              <a:t> It defines the order in which operators of the same precedence are evaluated in an expression. Associativity can be either from left to right or right to left.</a:t>
            </a:r>
          </a:p>
          <a:p>
            <a:pPr marL="0" indent="0">
              <a:buNone/>
            </a:pPr>
            <a:r>
              <a:rPr lang="en-IN" dirty="0"/>
              <a:t>Consider the following example:</a:t>
            </a:r>
          </a:p>
          <a:p>
            <a:pPr fontAlgn="t">
              <a:buNone/>
            </a:pPr>
            <a:r>
              <a:rPr lang="en-IN" dirty="0"/>
              <a:t>    24 + 5 * 4</a:t>
            </a:r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248EC-484F-5408-9415-48845361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70</a:t>
            </a:fld>
            <a:endParaRPr lang="en-AE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9330DF3-2150-B726-C40C-9235933BD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3120297"/>
            <a:ext cx="3579449" cy="3074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343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B55D1-D856-2DDE-AE04-5605B293F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302551"/>
            <a:ext cx="10182233" cy="4163794"/>
          </a:xfrm>
        </p:spPr>
        <p:txBody>
          <a:bodyPr>
            <a:normAutofit/>
          </a:bodyPr>
          <a:lstStyle/>
          <a:p>
            <a:r>
              <a:rPr lang="en-IN" dirty="0"/>
              <a:t>If several operators appear together, they have equal precedence and are evaluated according to their associativity.</a:t>
            </a:r>
          </a:p>
          <a:p>
            <a:r>
              <a:rPr lang="en-IN" dirty="0"/>
              <a:t>Operators with equal precedence  evaluation proceeds according to the associativity of the operator</a:t>
            </a:r>
          </a:p>
          <a:p>
            <a:pPr lvl="1"/>
            <a:r>
              <a:rPr lang="en-US" altLang="en-US" dirty="0"/>
              <a:t>For operators of the </a:t>
            </a:r>
            <a:r>
              <a:rPr lang="en-US" altLang="en-US" dirty="0">
                <a:solidFill>
                  <a:srgbClr val="FFFF00"/>
                </a:solidFill>
              </a:rPr>
              <a:t>same priority like + and -, </a:t>
            </a:r>
            <a:r>
              <a:rPr lang="en-US" altLang="en-US" dirty="0"/>
              <a:t>evaluation is from </a:t>
            </a:r>
            <a:r>
              <a:rPr lang="en-US" altLang="en-US" dirty="0">
                <a:solidFill>
                  <a:srgbClr val="FFFF00"/>
                </a:solidFill>
              </a:rPr>
              <a:t>left to right </a:t>
            </a:r>
            <a:r>
              <a:rPr lang="en-US" altLang="en-US" dirty="0"/>
              <a:t>as they appear</a:t>
            </a:r>
          </a:p>
          <a:p>
            <a:r>
              <a:rPr lang="en-US" altLang="en-US" dirty="0"/>
              <a:t>Parenthesis may be used to change the precedence of operator evaluation</a:t>
            </a:r>
          </a:p>
          <a:p>
            <a:pPr marL="0" indent="0"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E1F24-88ED-E9F4-300D-4772DB8AB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71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373488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94CA7-F8F7-D68C-37C4-0350FA41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72</a:t>
            </a:fld>
            <a:endParaRPr lang="en-A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6F44D5-C10C-F591-A41A-A27F0407D7DB}"/>
              </a:ext>
            </a:extLst>
          </p:cNvPr>
          <p:cNvSpPr txBox="1"/>
          <p:nvPr/>
        </p:nvSpPr>
        <p:spPr>
          <a:xfrm>
            <a:off x="2047301" y="1481292"/>
            <a:ext cx="8097398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40000"/>
              </a:lnSpc>
              <a:buNone/>
              <a:defRPr/>
            </a:pPr>
            <a:r>
              <a:rPr lang="en-US" sz="2800" dirty="0"/>
              <a:t>a + b * c – d / e       	</a:t>
            </a:r>
            <a:r>
              <a:rPr lang="en-US" sz="2800" dirty="0">
                <a:sym typeface="Wingdings" pitchFamily="2" charset="2"/>
              </a:rPr>
              <a:t>  a + (b * c) – (d / e)</a:t>
            </a:r>
          </a:p>
          <a:p>
            <a:pPr lvl="1">
              <a:lnSpc>
                <a:spcPct val="140000"/>
              </a:lnSpc>
              <a:buNone/>
              <a:defRPr/>
            </a:pPr>
            <a:r>
              <a:rPr lang="en-US" sz="2800" dirty="0">
                <a:sym typeface="Wingdings" pitchFamily="2" charset="2"/>
              </a:rPr>
              <a:t>a * –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>
                <a:sym typeface="Wingdings" pitchFamily="2" charset="2"/>
              </a:rPr>
              <a:t>b + d % e – f  	 a * (– b) + (d % e) – f</a:t>
            </a:r>
          </a:p>
          <a:p>
            <a:pPr lvl="1">
              <a:lnSpc>
                <a:spcPct val="140000"/>
              </a:lnSpc>
              <a:buNone/>
              <a:defRPr/>
            </a:pPr>
            <a:r>
              <a:rPr lang="en-US" sz="2800" dirty="0">
                <a:sym typeface="Wingdings" pitchFamily="2" charset="2"/>
              </a:rPr>
              <a:t>a – b + c + d          	  (((a – b) + c) + d)</a:t>
            </a:r>
          </a:p>
          <a:p>
            <a:pPr lvl="1">
              <a:lnSpc>
                <a:spcPct val="140000"/>
              </a:lnSpc>
              <a:buNone/>
              <a:defRPr/>
            </a:pPr>
            <a:r>
              <a:rPr lang="en-US" sz="2800" dirty="0">
                <a:sym typeface="Wingdings" pitchFamily="2" charset="2"/>
              </a:rPr>
              <a:t>x * y * z                 	  ((x * y) * z)</a:t>
            </a:r>
          </a:p>
          <a:p>
            <a:pPr lvl="1">
              <a:lnSpc>
                <a:spcPct val="140000"/>
              </a:lnSpc>
              <a:buNone/>
              <a:defRPr/>
            </a:pPr>
            <a:r>
              <a:rPr lang="en-US" sz="2800" dirty="0">
                <a:sym typeface="Wingdings" pitchFamily="2" charset="2"/>
              </a:rPr>
              <a:t>a + b + c * d * e    	  (a + b) + ((c * d) *</a:t>
            </a: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 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91910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BE84-AB45-5CA4-3D25-61760E7C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0A6B2-1E0A-B105-96E9-6DD02733B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D6F1D-0DE8-D851-8C14-2633D5CB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73</a:t>
            </a:fld>
            <a:endParaRPr lang="en-AE"/>
          </a:p>
        </p:txBody>
      </p:sp>
      <p:pic>
        <p:nvPicPr>
          <p:cNvPr id="6" name="Picture 2" descr="https://media.geeksforgeeks.org/wp-content/uploads/20190708163349/Operators-Precedence.jpg">
            <a:extLst>
              <a:ext uri="{FF2B5EF4-FFF2-40B4-BE49-F238E27FC236}">
                <a16:creationId xmlns:a16="http://schemas.microsoft.com/office/drawing/2014/main" id="{7400FDCB-DD38-E92B-AF53-D34EF05DB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2143" y="613118"/>
            <a:ext cx="8728431" cy="54403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536440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79F5-8D10-CDC5-24CE-23B288D8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9980E-384A-E6A2-9CF9-81F99ABA2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439DF-5B52-2960-27C3-CC0664872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74</a:t>
            </a:fld>
            <a:endParaRPr lang="en-AE"/>
          </a:p>
        </p:txBody>
      </p:sp>
      <p:pic>
        <p:nvPicPr>
          <p:cNvPr id="5" name="Picture 2" descr="https://media.geeksforgeeks.org/wp-content/uploads/20190708164646/Operators-Associativity-1.jpg">
            <a:extLst>
              <a:ext uri="{FF2B5EF4-FFF2-40B4-BE49-F238E27FC236}">
                <a16:creationId xmlns:a16="http://schemas.microsoft.com/office/drawing/2014/main" id="{4F528EDC-C432-4261-0FB5-A92A56B1B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707341"/>
            <a:ext cx="8839199" cy="54433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97244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29C69-E1EF-45C0-CF4E-3EED1796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Conversion (Type Casting)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FF6C5-21F6-D6D8-662A-B10FEDA73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291215" cy="3933655"/>
          </a:xfrm>
        </p:spPr>
        <p:txBody>
          <a:bodyPr/>
          <a:lstStyle/>
          <a:p>
            <a:pPr>
              <a:buNone/>
            </a:pPr>
            <a:r>
              <a:rPr lang="en-IN" sz="2400" b="1" dirty="0"/>
              <a:t>Implicit type conversion</a:t>
            </a:r>
          </a:p>
          <a:p>
            <a:r>
              <a:rPr lang="en-IN" dirty="0"/>
              <a:t>When operands differ in type, final result will be expressed in the highest precision possible</a:t>
            </a:r>
          </a:p>
          <a:p>
            <a:r>
              <a:rPr lang="en-IN" dirty="0"/>
              <a:t>If operands are of different type, lower type is automatically converted to </a:t>
            </a:r>
            <a:r>
              <a:rPr lang="en-IN" dirty="0">
                <a:solidFill>
                  <a:srgbClr val="FFFF00"/>
                </a:solidFill>
              </a:rPr>
              <a:t>higher type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Eg: operation b/w int and float results in float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A04C9-CED4-03C4-D52B-BA5F4A25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75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794190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5A47B-CC6B-55CC-0726-F7AF2B2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798974"/>
            <a:ext cx="9291215" cy="5439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int x = 15;</a:t>
            </a:r>
          </a:p>
          <a:p>
            <a:pPr marL="0" indent="0">
              <a:buNone/>
            </a:pPr>
            <a:r>
              <a:rPr lang="en-IN" dirty="0"/>
              <a:t>    float y = 4;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("Result = %f\n", x / y);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EF0B5-5CB6-6B0C-8A89-820A9693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76</a:t>
            </a:fld>
            <a:endParaRPr lang="en-AE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791A87B-CF04-A1B0-FAA1-B253EA4BDE8E}"/>
              </a:ext>
            </a:extLst>
          </p:cNvPr>
          <p:cNvSpPr/>
          <p:nvPr/>
        </p:nvSpPr>
        <p:spPr>
          <a:xfrm>
            <a:off x="6227121" y="2319013"/>
            <a:ext cx="5324413" cy="2206687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F31DC9-AF98-86E2-6133-AB33344C734C}"/>
              </a:ext>
            </a:extLst>
          </p:cNvPr>
          <p:cNvSpPr txBox="1"/>
          <p:nvPr/>
        </p:nvSpPr>
        <p:spPr>
          <a:xfrm>
            <a:off x="6759555" y="2699016"/>
            <a:ext cx="39808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x is converted from 15 → 15.0</a:t>
            </a:r>
          </a:p>
          <a:p>
            <a:r>
              <a:rPr lang="en-GB" sz="2000" dirty="0"/>
              <a:t>Division is performed in floating-point</a:t>
            </a:r>
          </a:p>
          <a:p>
            <a:r>
              <a:rPr lang="en-GB" sz="2000" dirty="0"/>
              <a:t>Output: 3.750000</a:t>
            </a: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33979929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69A0D-F114-88C8-00FC-DF80BAC0D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Conversion (Type Casting)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A022E-BF02-9F0F-A29E-69428DA32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939862" cy="417672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200" b="1" dirty="0"/>
              <a:t>Explicit Type Conversion</a:t>
            </a:r>
          </a:p>
          <a:p>
            <a:r>
              <a:rPr lang="en-IN" dirty="0"/>
              <a:t>Converting one datatype into another is known as type casting or, type-conversion. </a:t>
            </a:r>
          </a:p>
          <a:p>
            <a:r>
              <a:rPr lang="en-IN" dirty="0"/>
              <a:t>For example, if you want to store a 'long' value into a simple integer then you can type cast 'long' to 'int'. </a:t>
            </a:r>
          </a:p>
          <a:p>
            <a:r>
              <a:rPr lang="en-IN" dirty="0"/>
              <a:t>Convert the values from one type to another explicitly using the </a:t>
            </a:r>
            <a:r>
              <a:rPr lang="en-IN" b="1" dirty="0"/>
              <a:t>cast operator</a:t>
            </a:r>
            <a:r>
              <a:rPr lang="en-IN" dirty="0"/>
              <a:t> as follows −</a:t>
            </a:r>
          </a:p>
          <a:p>
            <a:pPr>
              <a:buNone/>
            </a:pPr>
            <a:r>
              <a:rPr lang="en-IN" dirty="0"/>
              <a:t>               (type) expression</a:t>
            </a:r>
          </a:p>
          <a:p>
            <a:pPr>
              <a:buNone/>
            </a:pPr>
            <a:r>
              <a:rPr lang="en-IN" dirty="0" err="1"/>
              <a:t>Eg.</a:t>
            </a:r>
            <a:r>
              <a:rPr lang="en-IN" dirty="0"/>
              <a:t>  c= (float) a/b   where c is float and </a:t>
            </a:r>
            <a:r>
              <a:rPr lang="en-IN" dirty="0" err="1"/>
              <a:t>a,b</a:t>
            </a:r>
            <a:r>
              <a:rPr lang="en-IN" dirty="0"/>
              <a:t> are 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460A3-4E10-6DD0-2D99-4031AC4E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77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907120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37401-00DE-87B3-36DA-E1AF75997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648182"/>
            <a:ext cx="9291215" cy="53127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400" dirty="0"/>
              <a:t>#include &lt;</a:t>
            </a:r>
            <a:r>
              <a:rPr lang="en-GB" sz="2400" dirty="0" err="1"/>
              <a:t>stdio.h</a:t>
            </a:r>
            <a:r>
              <a:rPr lang="en-GB" sz="2400" dirty="0"/>
              <a:t>&gt;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int main()</a:t>
            </a:r>
          </a:p>
          <a:p>
            <a:pPr marL="0" indent="0">
              <a:buNone/>
            </a:pPr>
            <a:r>
              <a:rPr lang="en-GB" sz="2400" dirty="0"/>
              <a:t>{</a:t>
            </a:r>
          </a:p>
          <a:p>
            <a:pPr marL="0" indent="0">
              <a:buNone/>
            </a:pPr>
            <a:r>
              <a:rPr lang="en-GB" sz="2400" dirty="0"/>
              <a:t>    int a = 5, b = 2;</a:t>
            </a:r>
          </a:p>
          <a:p>
            <a:pPr marL="0" indent="0">
              <a:buNone/>
            </a:pPr>
            <a:r>
              <a:rPr lang="en-GB" sz="2400" dirty="0"/>
              <a:t>    float c;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    c = (float)a / b;   // explicit casting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    </a:t>
            </a:r>
            <a:r>
              <a:rPr lang="en-GB" sz="2400" dirty="0" err="1"/>
              <a:t>printf</a:t>
            </a:r>
            <a:r>
              <a:rPr lang="en-GB" sz="2400" dirty="0"/>
              <a:t>("Result = %f\n", c);</a:t>
            </a:r>
          </a:p>
          <a:p>
            <a:pPr marL="0" indent="0">
              <a:buNone/>
            </a:pPr>
            <a:r>
              <a:rPr lang="en-GB" sz="2400" dirty="0"/>
              <a:t>    return 0;</a:t>
            </a:r>
          </a:p>
          <a:p>
            <a:pPr marL="0" indent="0">
              <a:buNone/>
            </a:pPr>
            <a:r>
              <a:rPr lang="en-GB" sz="2400" dirty="0"/>
              <a:t>}</a:t>
            </a:r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89D89-AADB-F690-D6D5-8184141C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78</a:t>
            </a:fld>
            <a:endParaRPr lang="en-A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BC3E29-FE47-D6B7-00A4-4DC6F4D59EDB}"/>
              </a:ext>
            </a:extLst>
          </p:cNvPr>
          <p:cNvSpPr/>
          <p:nvPr/>
        </p:nvSpPr>
        <p:spPr>
          <a:xfrm>
            <a:off x="6713316" y="1875099"/>
            <a:ext cx="4977114" cy="2812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 is explicitly cast from int → float</a:t>
            </a:r>
          </a:p>
          <a:p>
            <a:pPr algn="ctr"/>
            <a:r>
              <a:rPr lang="en-GB" dirty="0"/>
              <a:t>Expression becomes 5.0 / 2</a:t>
            </a:r>
          </a:p>
          <a:p>
            <a:pPr algn="ctr"/>
            <a:r>
              <a:rPr lang="en-GB" dirty="0"/>
              <a:t>Result is computed in floating-point arithmetic</a:t>
            </a:r>
          </a:p>
          <a:p>
            <a:pPr algn="ctr"/>
            <a:r>
              <a:rPr lang="en-GB" dirty="0"/>
              <a:t>Output: 2.500000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150356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6607-21F1-754E-9773-44E011830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Library Functions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7C1AA-2F25-4920-DB23-23E9C3A6C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574158"/>
            <a:ext cx="9972634" cy="4584272"/>
          </a:xfrm>
        </p:spPr>
        <p:txBody>
          <a:bodyPr>
            <a:normAutofit/>
          </a:bodyPr>
          <a:lstStyle/>
          <a:p>
            <a:r>
              <a:rPr lang="en-IN" dirty="0"/>
              <a:t>To use a Library function we must include a Preprocessor Directive statement #include&lt; &gt;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FF00"/>
                </a:solidFill>
              </a:rPr>
              <a:t>#include&lt;stdio.h&gt;</a:t>
            </a:r>
          </a:p>
          <a:p>
            <a:r>
              <a:rPr lang="en-IN" dirty="0"/>
              <a:t>h  designates the header file</a:t>
            </a:r>
          </a:p>
          <a:p>
            <a:r>
              <a:rPr lang="en-IN" dirty="0"/>
              <a:t>Other common header files are  </a:t>
            </a:r>
          </a:p>
          <a:p>
            <a:pPr>
              <a:buNone/>
            </a:pPr>
            <a:r>
              <a:rPr lang="en-IN" dirty="0"/>
              <a:t>			</a:t>
            </a:r>
            <a:r>
              <a:rPr lang="en-IN" dirty="0" err="1"/>
              <a:t>stdlib.h</a:t>
            </a:r>
            <a:r>
              <a:rPr lang="en-IN" dirty="0"/>
              <a:t>,</a:t>
            </a:r>
          </a:p>
          <a:p>
            <a:pPr>
              <a:buNone/>
            </a:pPr>
            <a:r>
              <a:rPr lang="en-IN" dirty="0"/>
              <a:t>			</a:t>
            </a:r>
            <a:r>
              <a:rPr lang="en-IN" dirty="0" err="1"/>
              <a:t>math.h</a:t>
            </a:r>
            <a:r>
              <a:rPr lang="en-IN" dirty="0"/>
              <a:t>,</a:t>
            </a:r>
          </a:p>
          <a:p>
            <a:pPr>
              <a:buNone/>
            </a:pPr>
            <a:r>
              <a:rPr lang="en-IN" dirty="0"/>
              <a:t>			</a:t>
            </a:r>
            <a:r>
              <a:rPr lang="en-IN" dirty="0" err="1"/>
              <a:t>ctype.h</a:t>
            </a:r>
            <a:endParaRPr lang="en-IN" dirty="0"/>
          </a:p>
          <a:p>
            <a:pPr>
              <a:buNone/>
            </a:pPr>
            <a:r>
              <a:rPr lang="en-IN" dirty="0"/>
              <a:t>			</a:t>
            </a:r>
            <a:r>
              <a:rPr lang="en-IN" dirty="0" err="1"/>
              <a:t>string.h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5CEFE-13C8-7C0E-519A-F734D935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79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98604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5023E-5E94-C453-D963-FB3999E0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6E324-E746-B2C8-01B0-29D1BCEF9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B5497-C33C-F2CB-B75B-EA63E15C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80</a:t>
            </a:fld>
            <a:endParaRPr lang="en-AE"/>
          </a:p>
        </p:txBody>
      </p:sp>
      <p:pic>
        <p:nvPicPr>
          <p:cNvPr id="5" name="Picture 2" descr="C:\Users\ACER\Downloads\New Doc 2020-01-31 10.52.20.jpg">
            <a:extLst>
              <a:ext uri="{FF2B5EF4-FFF2-40B4-BE49-F238E27FC236}">
                <a16:creationId xmlns:a16="http://schemas.microsoft.com/office/drawing/2014/main" id="{0C441CB7-6774-610C-F7AC-99146F531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3884" y="-55439"/>
            <a:ext cx="8610599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917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B010-9BDB-2195-E79F-22651547F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0"/>
            <a:ext cx="9291215" cy="1049235"/>
          </a:xfrm>
        </p:spPr>
        <p:txBody>
          <a:bodyPr/>
          <a:lstStyle/>
          <a:p>
            <a:r>
              <a:rPr lang="en-IN" dirty="0"/>
              <a:t>Expressions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912BF-35CB-C55F-AD10-D3C41E1F4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87" y="856528"/>
            <a:ext cx="11285317" cy="5196954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The expression may consist of a single entity, such as a constant or variable, or it may consist of some combination of such entities, interconnected by one or more </a:t>
            </a:r>
            <a:r>
              <a:rPr lang="en-IN" i="1" dirty="0"/>
              <a:t>operators</a:t>
            </a:r>
            <a:r>
              <a:rPr lang="en-IN" dirty="0"/>
              <a:t>. </a:t>
            </a:r>
          </a:p>
          <a:p>
            <a:r>
              <a:rPr lang="en-IN" dirty="0"/>
              <a:t>Expressions can also represent logical conditions which are either true or false.</a:t>
            </a:r>
          </a:p>
          <a:p>
            <a:r>
              <a:rPr lang="en-GB" b="1" dirty="0"/>
              <a:t>An expression is something that gives a value. </a:t>
            </a:r>
          </a:p>
          <a:p>
            <a:r>
              <a:rPr lang="en-GB" b="1" dirty="0"/>
              <a:t>It calculates something.</a:t>
            </a:r>
          </a:p>
          <a:p>
            <a:pPr marL="0" indent="0">
              <a:buNone/>
            </a:pPr>
            <a:r>
              <a:rPr lang="en-GB" b="1" dirty="0"/>
              <a:t>Examples</a:t>
            </a: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FFFF00"/>
                </a:solidFill>
              </a:rPr>
              <a:t>5 + 3</a:t>
            </a:r>
          </a:p>
          <a:p>
            <a:pPr marL="0" indent="0">
              <a:buNone/>
            </a:pPr>
            <a:r>
              <a:rPr lang="en-GB" dirty="0">
                <a:solidFill>
                  <a:srgbClr val="FFFF00"/>
                </a:solidFill>
              </a:rPr>
              <a:t>a * 10</a:t>
            </a:r>
          </a:p>
          <a:p>
            <a:pPr marL="0" indent="0">
              <a:buNone/>
            </a:pPr>
            <a:r>
              <a:rPr lang="en-GB" dirty="0">
                <a:solidFill>
                  <a:srgbClr val="FFFF00"/>
                </a:solidFill>
              </a:rPr>
              <a:t>x &gt; y</a:t>
            </a:r>
          </a:p>
          <a:p>
            <a:r>
              <a:rPr lang="en-GB" dirty="0">
                <a:solidFill>
                  <a:srgbClr val="FFC000"/>
                </a:solidFill>
              </a:rPr>
              <a:t>5 + 3 gives </a:t>
            </a:r>
            <a:r>
              <a:rPr lang="en-GB" b="1" dirty="0">
                <a:solidFill>
                  <a:srgbClr val="FFC000"/>
                </a:solidFill>
              </a:rPr>
              <a:t>8</a:t>
            </a:r>
            <a:endParaRPr lang="en-GB" dirty="0">
              <a:solidFill>
                <a:srgbClr val="FFC000"/>
              </a:solidFill>
            </a:endParaRPr>
          </a:p>
          <a:p>
            <a:r>
              <a:rPr lang="en-GB" dirty="0">
                <a:solidFill>
                  <a:srgbClr val="FFC000"/>
                </a:solidFill>
              </a:rPr>
              <a:t>a * 10 gives a value</a:t>
            </a:r>
          </a:p>
          <a:p>
            <a:r>
              <a:rPr lang="en-GB" dirty="0">
                <a:solidFill>
                  <a:srgbClr val="FFC000"/>
                </a:solidFill>
              </a:rPr>
              <a:t>x &gt; y gives </a:t>
            </a:r>
            <a:r>
              <a:rPr lang="en-GB" b="1" dirty="0">
                <a:solidFill>
                  <a:srgbClr val="FFC000"/>
                </a:solidFill>
              </a:rPr>
              <a:t>true or false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789778-EA49-DDDB-AAE0-28FEBA5C7811}"/>
              </a:ext>
            </a:extLst>
          </p:cNvPr>
          <p:cNvSpPr txBox="1"/>
          <p:nvPr/>
        </p:nvSpPr>
        <p:spPr>
          <a:xfrm>
            <a:off x="5803160" y="3677816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dirty="0"/>
              <a:t>Expression = </a:t>
            </a:r>
            <a:r>
              <a:rPr lang="en-GB" b="1" dirty="0"/>
              <a:t>calculation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00377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A137B-19AD-D442-74EA-9587FBBE3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18721"/>
            <a:ext cx="9291215" cy="1049235"/>
          </a:xfrm>
        </p:spPr>
        <p:txBody>
          <a:bodyPr/>
          <a:lstStyle/>
          <a:p>
            <a:r>
              <a:rPr lang="en-GB" dirty="0"/>
              <a:t>Statements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138CF-0717-03A9-1FF7-1C5187727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260" y="937870"/>
            <a:ext cx="10845479" cy="5254508"/>
          </a:xfrm>
        </p:spPr>
        <p:txBody>
          <a:bodyPr>
            <a:normAutofit/>
          </a:bodyPr>
          <a:lstStyle/>
          <a:p>
            <a:r>
              <a:rPr lang="en-IN" sz="2400" dirty="0"/>
              <a:t>A </a:t>
            </a:r>
            <a:r>
              <a:rPr lang="en-IN" sz="2400" i="1" dirty="0"/>
              <a:t>statement</a:t>
            </a:r>
            <a:r>
              <a:rPr lang="en-IN" sz="2400" dirty="0"/>
              <a:t> , the smallest independent computational unit ,causes the computer to carry out some definite action. </a:t>
            </a:r>
          </a:p>
          <a:p>
            <a:r>
              <a:rPr lang="en-GB" sz="2400" dirty="0"/>
              <a:t>A </a:t>
            </a:r>
            <a:r>
              <a:rPr lang="en-GB" sz="2400" b="1" dirty="0"/>
              <a:t>statement</a:t>
            </a:r>
            <a:r>
              <a:rPr lang="en-GB" sz="2400" dirty="0"/>
              <a:t> is a </a:t>
            </a:r>
            <a:r>
              <a:rPr lang="en-GB" sz="2400" b="1" dirty="0"/>
              <a:t>complete instruction</a:t>
            </a:r>
            <a:r>
              <a:rPr lang="en-GB" sz="2400" dirty="0"/>
              <a:t> that tells the computer </a:t>
            </a:r>
            <a:r>
              <a:rPr lang="en-GB" sz="2400" b="1" dirty="0"/>
              <a:t>to do something</a:t>
            </a:r>
            <a:r>
              <a:rPr lang="en-GB" sz="2400" dirty="0"/>
              <a:t>.</a:t>
            </a:r>
          </a:p>
          <a:p>
            <a:r>
              <a:rPr lang="en-GB" sz="2400" dirty="0"/>
              <a:t>It usually </a:t>
            </a:r>
            <a:r>
              <a:rPr lang="en-GB" sz="2400" b="1" dirty="0"/>
              <a:t>ends with a semicolon (;)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FF00"/>
                </a:solidFill>
              </a:rPr>
              <a:t>a = 5; </a:t>
            </a:r>
            <a:r>
              <a:rPr lang="en-GB" sz="2400" dirty="0">
                <a:solidFill>
                  <a:srgbClr val="FFFF00"/>
                </a:solidFill>
                <a:sym typeface="Wingdings" panose="05000000000000000000" pitchFamily="2" charset="2"/>
              </a:rPr>
              <a:t> </a:t>
            </a:r>
            <a:r>
              <a:rPr lang="en-IN" sz="2400" dirty="0">
                <a:solidFill>
                  <a:srgbClr val="FFFF00"/>
                </a:solidFill>
              </a:rPr>
              <a:t>Store a value</a:t>
            </a:r>
            <a:endParaRPr lang="en-GB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GB" sz="2400" dirty="0" err="1">
                <a:solidFill>
                  <a:srgbClr val="FFFF00"/>
                </a:solidFill>
              </a:rPr>
              <a:t>printf</a:t>
            </a:r>
            <a:r>
              <a:rPr lang="en-GB" sz="2400" dirty="0">
                <a:solidFill>
                  <a:srgbClr val="FFFF00"/>
                </a:solidFill>
              </a:rPr>
              <a:t>("Hello"); </a:t>
            </a:r>
            <a:r>
              <a:rPr lang="en-GB" sz="2400" dirty="0">
                <a:solidFill>
                  <a:srgbClr val="FFFF00"/>
                </a:solidFill>
                <a:sym typeface="Wingdings" panose="05000000000000000000" pitchFamily="2" charset="2"/>
              </a:rPr>
              <a:t> </a:t>
            </a:r>
            <a:r>
              <a:rPr lang="en-IN" sz="2400" dirty="0">
                <a:solidFill>
                  <a:srgbClr val="FFFF00"/>
                </a:solidFill>
              </a:rPr>
              <a:t>Print something</a:t>
            </a:r>
            <a:endParaRPr lang="en-GB" sz="2400" dirty="0"/>
          </a:p>
          <a:p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FB5875-144A-7F9F-02A4-A2807C5A2E06}"/>
              </a:ext>
            </a:extLst>
          </p:cNvPr>
          <p:cNvSpPr txBox="1"/>
          <p:nvPr/>
        </p:nvSpPr>
        <p:spPr>
          <a:xfrm>
            <a:off x="7466636" y="3901198"/>
            <a:ext cx="4725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Statement = </a:t>
            </a:r>
            <a:r>
              <a:rPr lang="en-IN" b="1" dirty="0"/>
              <a:t>action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2224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C3839-69B8-6914-6D25-917453C7C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468E-9DD9-AAF2-E08C-763499500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x = y + 2;</a:t>
            </a:r>
          </a:p>
          <a:p>
            <a:pPr marL="0" indent="0">
              <a:buNone/>
            </a:pPr>
            <a:r>
              <a:rPr lang="en-GB" dirty="0"/>
              <a:t>y + 2 → Expression (it calculates)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x = y + 2; → Statement (it tells the computer to store the result)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0081B-1A4F-C908-F83C-187228D2B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83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050079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77EED-E966-BCE3-B11C-EB9F03CC5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659758"/>
            <a:ext cx="10260361" cy="5405376"/>
          </a:xfrm>
        </p:spPr>
        <p:txBody>
          <a:bodyPr>
            <a:normAutofit/>
          </a:bodyPr>
          <a:lstStyle/>
          <a:p>
            <a:r>
              <a:rPr lang="en-IN" sz="2400" dirty="0"/>
              <a:t>Three different classes </a:t>
            </a:r>
          </a:p>
          <a:p>
            <a:pPr lvl="1"/>
            <a:r>
              <a:rPr lang="en-IN" sz="2000" i="1" dirty="0"/>
              <a:t>expression statements</a:t>
            </a:r>
            <a:r>
              <a:rPr lang="en-IN" sz="2000" dirty="0"/>
              <a:t>, </a:t>
            </a:r>
          </a:p>
          <a:p>
            <a:pPr lvl="1"/>
            <a:r>
              <a:rPr lang="en-IN" sz="2000" i="1" dirty="0"/>
              <a:t>compound statements</a:t>
            </a:r>
            <a:r>
              <a:rPr lang="en-IN" sz="2000" dirty="0"/>
              <a:t>, and</a:t>
            </a:r>
          </a:p>
          <a:p>
            <a:pPr lvl="1"/>
            <a:r>
              <a:rPr lang="en-IN" sz="2000" i="1" dirty="0"/>
              <a:t>control statements</a:t>
            </a:r>
            <a:r>
              <a:rPr lang="en-IN" sz="2000" dirty="0"/>
              <a:t>.</a:t>
            </a:r>
          </a:p>
          <a:p>
            <a:endParaRPr lang="en-IN" sz="2400" dirty="0"/>
          </a:p>
          <a:p>
            <a:r>
              <a:rPr lang="en-IN" sz="2400" dirty="0"/>
              <a:t>An </a:t>
            </a:r>
            <a:r>
              <a:rPr lang="en-IN" sz="2400" b="1" dirty="0">
                <a:solidFill>
                  <a:srgbClr val="FFFF00"/>
                </a:solidFill>
              </a:rPr>
              <a:t>expression statement</a:t>
            </a:r>
            <a:r>
              <a:rPr lang="en-IN" sz="2400" b="1" dirty="0"/>
              <a:t> </a:t>
            </a:r>
            <a:r>
              <a:rPr lang="en-IN" sz="2400" dirty="0"/>
              <a:t>consists of an expression followed by a semicolon. 	</a:t>
            </a:r>
          </a:p>
          <a:p>
            <a:pPr lvl="1"/>
            <a:r>
              <a:rPr lang="en-IN" sz="2000" dirty="0"/>
              <a:t>The execution of such a statement causes the associated expression to be evaluated. </a:t>
            </a:r>
          </a:p>
          <a:p>
            <a:pPr lvl="1"/>
            <a:r>
              <a:rPr lang="en-IN" sz="2000" dirty="0"/>
              <a:t>For example:  a = 6; </a:t>
            </a:r>
          </a:p>
          <a:p>
            <a:pPr lvl="1">
              <a:buNone/>
            </a:pPr>
            <a:r>
              <a:rPr lang="en-IN" sz="2000" dirty="0"/>
              <a:t>			      c = a + b;</a:t>
            </a:r>
          </a:p>
          <a:p>
            <a:pPr lvl="1">
              <a:buNone/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48635-FE07-C13F-B6F3-B501ACC25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84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235042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8E38E-5301-49DF-6B44-89991EC75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462987"/>
            <a:ext cx="10099955" cy="5578997"/>
          </a:xfrm>
        </p:spPr>
        <p:txBody>
          <a:bodyPr>
            <a:normAutofit/>
          </a:bodyPr>
          <a:lstStyle/>
          <a:p>
            <a:r>
              <a:rPr lang="en-IN" sz="2400" dirty="0"/>
              <a:t>A </a:t>
            </a:r>
            <a:r>
              <a:rPr lang="en-IN" sz="2400" b="1" dirty="0">
                <a:solidFill>
                  <a:srgbClr val="FFFF00"/>
                </a:solidFill>
              </a:rPr>
              <a:t>compound statement </a:t>
            </a:r>
            <a:r>
              <a:rPr lang="en-IN" sz="2400" dirty="0"/>
              <a:t>consists of several individual statements enclosed within a pair of braces { }. </a:t>
            </a:r>
          </a:p>
          <a:p>
            <a:r>
              <a:rPr lang="en-IN" sz="2400" dirty="0"/>
              <a:t>The individual statements may themselves be expression statements, compound statements, or control statements.  </a:t>
            </a:r>
          </a:p>
          <a:p>
            <a:r>
              <a:rPr lang="en-IN" sz="2400" dirty="0"/>
              <a:t>A typical compound statement is shown below:</a:t>
            </a:r>
          </a:p>
          <a:p>
            <a:pPr>
              <a:buNone/>
            </a:pPr>
            <a:r>
              <a:rPr lang="en-IN" sz="2400" dirty="0"/>
              <a:t>	{ </a:t>
            </a:r>
          </a:p>
          <a:p>
            <a:pPr>
              <a:buNone/>
            </a:pPr>
            <a:r>
              <a:rPr lang="en-IN" sz="2400" dirty="0"/>
              <a:t>		pi = 3.141593; </a:t>
            </a:r>
          </a:p>
          <a:p>
            <a:pPr>
              <a:buNone/>
            </a:pPr>
            <a:r>
              <a:rPr lang="en-IN" sz="2400" dirty="0"/>
              <a:t>		circumference = 2. * pi * radius; </a:t>
            </a:r>
          </a:p>
          <a:p>
            <a:pPr>
              <a:buNone/>
            </a:pPr>
            <a:r>
              <a:rPr lang="en-IN" sz="2400" dirty="0"/>
              <a:t>		area = pi * radius * radius; </a:t>
            </a:r>
          </a:p>
          <a:p>
            <a:pPr>
              <a:buNone/>
            </a:pPr>
            <a:r>
              <a:rPr lang="en-IN" sz="2400" dirty="0"/>
              <a:t>	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0EDDD-140C-F734-D132-E53DC5FD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85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9445019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7E9D8-FC61-E183-4C14-868D97CBF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666754"/>
            <a:ext cx="10018932" cy="3799592"/>
          </a:xfrm>
        </p:spPr>
        <p:txBody>
          <a:bodyPr/>
          <a:lstStyle/>
          <a:p>
            <a:r>
              <a:rPr lang="en-IN" sz="2400" b="1" dirty="0">
                <a:solidFill>
                  <a:srgbClr val="FFFF00"/>
                </a:solidFill>
              </a:rPr>
              <a:t>Control statements</a:t>
            </a:r>
            <a:r>
              <a:rPr lang="en-IN" sz="2400" b="1" dirty="0"/>
              <a:t> </a:t>
            </a:r>
            <a:r>
              <a:rPr lang="en-IN" sz="2400" dirty="0"/>
              <a:t>are used to alter the natural flow of control in a program.</a:t>
            </a:r>
          </a:p>
          <a:p>
            <a:r>
              <a:rPr lang="en-IN" sz="2400" dirty="0"/>
              <a:t>Decisions, Loops </a:t>
            </a:r>
            <a:r>
              <a:rPr lang="en-IN" sz="2400"/>
              <a:t>and Branches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824FE-8C46-3B78-168C-CF179F22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4EE0-3163-42B5-81F1-819033D53CB5}" type="slidenum">
              <a:rPr lang="en-AE" smtClean="0"/>
              <a:t>86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1192802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909</TotalTime>
  <Words>4713</Words>
  <Application>Microsoft Office PowerPoint</Application>
  <PresentationFormat>Widescreen</PresentationFormat>
  <Paragraphs>705</Paragraphs>
  <Slides>86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3" baseType="lpstr">
      <vt:lpstr>Arial</vt:lpstr>
      <vt:lpstr>Calibri</vt:lpstr>
      <vt:lpstr>georgia</vt:lpstr>
      <vt:lpstr>Rockwell</vt:lpstr>
      <vt:lpstr>Symbol</vt:lpstr>
      <vt:lpstr>Wingdings</vt:lpstr>
      <vt:lpstr>Gallery</vt:lpstr>
      <vt:lpstr>COMPUTER PROGRAMMING IN C  &amp; SHELL SCRIPTING  (24ESC126)</vt:lpstr>
      <vt:lpstr>Introduction</vt:lpstr>
      <vt:lpstr>Module 1</vt:lpstr>
      <vt:lpstr>First C Program</vt:lpstr>
      <vt:lpstr>Compiling and Executing in GCC</vt:lpstr>
      <vt:lpstr>Structure of C Program</vt:lpstr>
      <vt:lpstr>PowerPoint Presentation</vt:lpstr>
      <vt:lpstr>tokens</vt:lpstr>
      <vt:lpstr>The C Character Set</vt:lpstr>
      <vt:lpstr>Special Characters</vt:lpstr>
      <vt:lpstr>Special Characters</vt:lpstr>
      <vt:lpstr>Special Characters</vt:lpstr>
      <vt:lpstr>Keywords</vt:lpstr>
      <vt:lpstr>32 keywords in ANSI C</vt:lpstr>
      <vt:lpstr>Identifiers</vt:lpstr>
      <vt:lpstr>Rules for naming:</vt:lpstr>
      <vt:lpstr>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Constants</vt:lpstr>
      <vt:lpstr>constants</vt:lpstr>
      <vt:lpstr>Char Constants</vt:lpstr>
      <vt:lpstr>PowerPoint Presentation</vt:lpstr>
      <vt:lpstr>Escape Sequences</vt:lpstr>
      <vt:lpstr>PowerPoint Presentation</vt:lpstr>
      <vt:lpstr>Const Keyword</vt:lpstr>
      <vt:lpstr>Variables</vt:lpstr>
      <vt:lpstr>Variables</vt:lpstr>
      <vt:lpstr>Declaration Of Variables</vt:lpstr>
      <vt:lpstr>Console I/O functions</vt:lpstr>
      <vt:lpstr>Scanf &amp; Printf Functions</vt:lpstr>
      <vt:lpstr>PowerPoint Presentation</vt:lpstr>
      <vt:lpstr>PowerPoint Presentation</vt:lpstr>
      <vt:lpstr>printf("%d",&lt;variable name&gt;);</vt:lpstr>
      <vt:lpstr>PowerPoint Presentation</vt:lpstr>
      <vt:lpstr>PowerPoint Presentation</vt:lpstr>
      <vt:lpstr>Multiple values I/O</vt:lpstr>
      <vt:lpstr>Other I/O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Operators</vt:lpstr>
      <vt:lpstr>Arithmetic Operators</vt:lpstr>
      <vt:lpstr>Integer arithmetic</vt:lpstr>
      <vt:lpstr>Real Arithmetic</vt:lpstr>
      <vt:lpstr>Mixed mode</vt:lpstr>
      <vt:lpstr>Relational operators</vt:lpstr>
      <vt:lpstr>Assignment operators</vt:lpstr>
      <vt:lpstr>Short Hand Assignment Operators +=, -=, *=, /=, %=</vt:lpstr>
      <vt:lpstr>Logical Operators</vt:lpstr>
      <vt:lpstr>Logical Operators</vt:lpstr>
      <vt:lpstr>PowerPoint Presentation</vt:lpstr>
      <vt:lpstr>Unary Operators</vt:lpstr>
      <vt:lpstr>PowerPoint Presentation</vt:lpstr>
      <vt:lpstr>Increment/decrement operator(++/--)</vt:lpstr>
      <vt:lpstr>Conditional Operator-  Ternary Operator</vt:lpstr>
      <vt:lpstr>Bitwise Operator</vt:lpstr>
      <vt:lpstr>Bitwise complement operator (~)</vt:lpstr>
      <vt:lpstr>PowerPoint Presentation</vt:lpstr>
      <vt:lpstr>Right Shift Operator</vt:lpstr>
      <vt:lpstr>Left Shift Operator</vt:lpstr>
      <vt:lpstr>PowerPoint Presentation</vt:lpstr>
      <vt:lpstr>sizeof Operator</vt:lpstr>
      <vt:lpstr>Operator Precedence &amp; Associativity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 Conversion (Type Casting)</vt:lpstr>
      <vt:lpstr>PowerPoint Presentation</vt:lpstr>
      <vt:lpstr>Type Conversion (Type Casting)</vt:lpstr>
      <vt:lpstr>PowerPoint Presentation</vt:lpstr>
      <vt:lpstr>Library Functions</vt:lpstr>
      <vt:lpstr>PowerPoint Presentation</vt:lpstr>
      <vt:lpstr>Expressions</vt:lpstr>
      <vt:lpstr>Statements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Collin Sunny</dc:creator>
  <cp:lastModifiedBy>Collin Sunny</cp:lastModifiedBy>
  <cp:revision>51</cp:revision>
  <dcterms:created xsi:type="dcterms:W3CDTF">2026-01-26T13:32:50Z</dcterms:created>
  <dcterms:modified xsi:type="dcterms:W3CDTF">2026-02-01T07:10:54Z</dcterms:modified>
</cp:coreProperties>
</file>